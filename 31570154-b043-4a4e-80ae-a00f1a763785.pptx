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60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8288000" cy="10287000"/>
  <p:notesSz cx="6857895" cy="9143861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marL="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1pPr>
    <a:lvl2pPr marL="457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2pPr>
    <a:lvl3pPr marL="914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3pPr>
    <a:lvl4pPr marL="13716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4pPr>
    <a:lvl5pPr marL="18288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5pPr>
    <a:lvl6pPr marL="22860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6pPr>
    <a:lvl7pPr marL="2743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7pPr>
    <a:lvl8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8pPr>
    <a:lvl9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 showNarration="1"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>
    <p:restoredLeft sz="15620" autoAdjust="0"/>
    <p:restoredTop sz="94621" autoAdjust="0"/>
  </p:normalViewPr>
  <p:slideViewPr>
    <p:cSldViewPr>
      <p:cViewPr varScale="1">
        <p:scale>
          <a:sx n="37" d="100"/>
          <a:sy n="37" d="100"/>
        </p:scale>
        <p:origin x="0" y="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/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7" d="100"/>
          <a:sy n="57" d="100"/>
        </p:scale>
        <p:origin x="0" y="0"/>
      </p:cViewPr>
      <p:guideLst/>
    </p:cSldViewPr>
  </p:notesViewPr>
  <p:gridSpacing cx="72009" cy="72009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1371600" y="3195637"/>
            <a:ext cx="15544800" cy="2205037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2743200" y="5829299"/>
            <a:ext cx="12801600" cy="262889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1808067"/>
      </p:ext>
    </p:extLst>
  </p:cSld>
  <p:clrMapOvr>
    <a:masterClrMapping/>
  </p:clrMapOvr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5590468"/>
      </p:ext>
    </p:extLst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defRPr sz="4000" b="1" cap="all"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3377621"/>
      </p:ext>
    </p:extLst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sz="half"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sz="half"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7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9541903"/>
      </p:ext>
    </p:extLst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defRPr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sz="half"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body" sz="quarter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sz="quarter"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8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9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0320374"/>
      </p:ext>
    </p:extLst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5023067"/>
      </p:ext>
    </p:extLst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1863068"/>
      </p:ext>
    </p:extLst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defRPr sz="2000" b="1"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body" sz="half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7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0438640"/>
      </p:ext>
    </p:extLst>
  </p:cSld>
  <p:clrMapOvr>
    <a:masterClrMapping xmlns:a="http://schemas.openxmlformats.org/drawingml/2006/main"/>
  </p:clrMapOvr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defRPr sz="2000" b="1"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body" sz="half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7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9839186"/>
      </p:ext>
    </p:extLst>
  </p:cSld>
  <p:clrMapOvr>
    <a:masterClrMapping xmlns:a="http://schemas.openxmlformats.org/drawingml/2006/main"/>
  </p:clrMapOvr>
</p:sldLayout>
</file>

<file path=ppt/slideLayouts/slideLayout10.xml><?xml version="1.0" encoding="utf-8"?>
<p:sldLayout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orient="vert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63351"/>
      </p:ext>
    </p:extLst>
  </p:cSld>
  <p:clrMapOvr>
    <a:masterClrMapping xmlns:a="http://schemas.openxmlformats.org/drawingml/2006/main"/>
  </p:clrMapOvr>
</p:sldLayout>
</file>

<file path=ppt/slideLayouts/slideLayout11.xml><?xml version="1.0" encoding="utf-8"?>
<p:sldLayout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 orient="vert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orient="vert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204081"/>
      </p:ext>
    </p:extLst>
  </p:cSld>
  <p:clrMapOvr>
    <a:masterClrMapping xmlns:a="http://schemas.openxmlformats.org/drawingml/2006/main"/>
  </p:clrMapOvr>
</p:sldLayout>
</file>

<file path=ppt/slideLayouts/slideLayout12.xml><?xml version="1.0" encoding="utf-8"?>
<p:sldLayout xmlns:p="http://schemas.openxmlformats.org/presentationml/2006/main" showMasterSp="0" preserve="1">
  <p:cSld name="自定义版式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7" name="文本框"/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 rot="0">
            <a:off x="457200" y="6356349"/>
            <a:ext cx="2133600" cy="365125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ctr" anchorCtr="0">
            <a:prstTxWarp prst="textNoShape"/>
          </a:bodyPr>
          <a:lstStyle xmlns:a="http://schemas.openxmlformats.org/drawingml/2006/main"/>
          <a:p xmlns:a="http://schemas.openxmlformats.org/drawingml/2006/main">
            <a:pPr algn="l"/>
            <a:endParaRPr lang="zh-CN" altLang="en-US" sz="1200">
              <a:solidFill>
                <a:srgbClr val="898989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8" name="文本框"/>
          <p:cNvSpPr>
            <a:spLocks xmlns:a="http://schemas.openxmlformats.org/drawingml/2006/main" noGrp="1"/>
          </p:cNvSpPr>
          <p:nvPr>
            <p:ph type="ftr"/>
          </p:nvPr>
        </p:nvSpPr>
        <p:spPr>
          <a:xfrm xmlns:a="http://schemas.openxmlformats.org/drawingml/2006/main" rot="0">
            <a:off x="3124200" y="6356349"/>
            <a:ext cx="2895600" cy="365125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ctr" anchorCtr="0">
            <a:prstTxWarp prst="textNoShape"/>
          </a:bodyPr>
          <a:lstStyle xmlns:a="http://schemas.openxmlformats.org/drawingml/2006/main"/>
          <a:p xmlns:a="http://schemas.openxmlformats.org/drawingml/2006/main">
            <a:pPr algn="ctr"/>
            <a:endParaRPr lang="zh-CN" altLang="en-US" sz="1200">
              <a:solidFill>
                <a:srgbClr val="898989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9" name="文本框"/>
          <p:cNvSpPr>
            <a:spLocks xmlns:a="http://schemas.openxmlformats.org/drawingml/2006/main" noGrp="1"/>
          </p:cNvSpPr>
          <p:nvPr>
            <p:ph type="sldNum"/>
          </p:nvPr>
        </p:nvSpPr>
        <p:spPr>
          <a:xfrm xmlns:a="http://schemas.openxmlformats.org/drawingml/2006/main" rot="0">
            <a:off x="6553200" y="6356349"/>
            <a:ext cx="2133600" cy="365125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ctr" anchorCtr="0">
            <a:prstTxWarp prst="textNoShape"/>
          </a:bodyPr>
          <a:lstStyle xmlns:a="http://schemas.openxmlformats.org/drawingml/2006/main"/>
          <a:p xmlns:a="http://schemas.openxmlformats.org/drawingml/2006/main"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&lt;#&gt;</a:t>
            </a:fld>
            <a:endParaRPr lang="zh-CN" altLang="en-US" sz="1200">
              <a:solidFill>
                <a:srgbClr val="898989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2218690"/>
      </p:ext>
    </p:extLst>
  </p:cSld>
  <p:clrMapOvr>
    <a:masterClrMapping xmlns:a="http://schemas.openxmlformats.org/drawingml/2006/main"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 rot="0">
            <a:off x="457200" y="274638"/>
            <a:ext cx="8229600" cy="11430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 rot="0">
            <a:off x="457200" y="1600200"/>
            <a:ext cx="8229600" cy="452596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idx="2"/>
          </p:nvPr>
        </p:nvSpPr>
        <p:spPr>
          <a:xfrm rot="0">
            <a:off x="457200" y="6356349"/>
            <a:ext cx="2133600" cy="36512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algn="l"/>
            <a:fld id="{CAD2D6BD-DE1B-4B5F-8B41-2702339687B9}" type="datetime1">
              <a:rPr lang="en-US" altLang="zh-CN" sz="1200">
                <a:solidFill>
                  <a:srgbClr val="898989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9/30/2026</a:t>
            </a:fld>
            <a:endParaRPr lang="zh-CN" altLang="en-US" sz="1200">
              <a:solidFill>
                <a:srgbClr val="898989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ftr" idx="3"/>
          </p:nvPr>
        </p:nvSpPr>
        <p:spPr>
          <a:xfrm rot="0">
            <a:off x="3124200" y="6356349"/>
            <a:ext cx="2895600" cy="36512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algn="ctr"/>
            <a:endParaRPr lang="zh-CN" altLang="en-US" sz="1200">
              <a:solidFill>
                <a:srgbClr val="898989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6" name="文本框"/>
          <p:cNvSpPr>
            <a:spLocks noGrp="1"/>
          </p:cNvSpPr>
          <p:nvPr>
            <p:ph type="sldNum" idx="4"/>
          </p:nvPr>
        </p:nvSpPr>
        <p:spPr>
          <a:xfrm rot="0">
            <a:off x="6553200" y="6356349"/>
            <a:ext cx="2133600" cy="36512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&lt;#&gt;</a:t>
            </a:fld>
            <a:endParaRPr lang="zh-CN" altLang="en-US" sz="1200">
              <a:solidFill>
                <a:srgbClr val="898989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98908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lvl1pPr algn="ctr" defTabSz="914400" eaLnBrk="1" fontAlgn="auto" latinLnBrk="0" hangingPunct="1">
        <a:spcBef>
          <a:spcPts val="0"/>
        </a:spcBef>
        <a:buNone/>
        <a:defRPr sz="44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1pPr>
    </p:titleStyle>
    <p:bodyStyle>
      <a:lvl1pPr marL="342900" indent="-3429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1pPr>
      <a:lvl2pPr marL="742950" indent="-285750" algn="l" defTabSz="914400" eaLnBrk="1" fontAlgn="auto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2pPr>
      <a:lvl3pPr marL="11430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3pPr>
      <a:lvl4pPr marL="1600200" indent="-228600" algn="l" defTabSz="914400" eaLnBrk="1" fontAlgn="auto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4pPr>
      <a:lvl5pPr marL="2057400" indent="-228600" algn="l" defTabSz="914400" eaLnBrk="1" fontAlgn="auto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5pPr>
      <a:lvl6pPr marL="25146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6pPr>
      <a:lvl7pPr marL="29718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7pPr>
      <a:lvl8pPr marL="34290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8pPr>
      <a:lvl9pPr marL="34290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9pPr>
    </p:body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6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"/>
          <p:cNvSpPr>
            <a:spLocks/>
          </p:cNvSpPr>
          <p:nvPr/>
        </p:nvSpPr>
        <p:spPr>
          <a:xfrm rot="0">
            <a:off x="3671922" y="1501492"/>
            <a:ext cx="11131450" cy="112090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44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677" b="0" i="0" u="none" strike="noStrike" kern="1200" cap="none" spc="0" baseline="0">
                <a:solidFill>
                  <a:srgbClr val="000000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Topic : LegalEase:Al Powered Legal Documents generated </a:t>
            </a:r>
            <a:endParaRPr lang="zh-CN" altLang="en-US" sz="3677" b="0" i="0" u="none" strike="noStrike" kern="1200" cap="none" spc="0" baseline="0">
              <a:solidFill>
                <a:srgbClr val="000000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11" name="矩形"/>
          <p:cNvSpPr>
            <a:spLocks/>
          </p:cNvSpPr>
          <p:nvPr/>
        </p:nvSpPr>
        <p:spPr>
          <a:xfrm rot="0">
            <a:off x="6207635" y="3728417"/>
            <a:ext cx="6968304" cy="419036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6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5499" b="0" i="0" u="none" strike="noStrike" kern="1200" cap="none" spc="0" baseline="0">
                <a:solidFill>
                  <a:srgbClr val="000000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Team Members:</a:t>
            </a:r>
            <a:endParaRPr lang="en-US" altLang="zh-CN" sz="5499" b="0" i="0" u="none" strike="noStrike" kern="1200" cap="none" spc="0" baseline="0">
              <a:solidFill>
                <a:srgbClr val="000000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  <a:p>
            <a:pPr marL="0" indent="0" algn="ctr">
              <a:lnSpc>
                <a:spcPts val="6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5499" b="0" i="0" u="none" strike="noStrike" kern="1200" cap="none" spc="0" baseline="0">
                <a:solidFill>
                  <a:srgbClr val="000000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1.</a:t>
            </a:r>
            <a:r>
              <a:rPr lang="en-US" altLang="zh-CN" sz="5499" b="0" i="0" u="none" strike="noStrike" kern="1200" cap="none" spc="0" baseline="0">
                <a:solidFill>
                  <a:srgbClr val="000000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</a:rPr>
              <a:t>B.Nabisha</a:t>
            </a:r>
            <a:endParaRPr lang="en-US" altLang="zh-CN" sz="5499" b="0" i="0" u="none" strike="noStrike" kern="1200" cap="none" spc="0" baseline="0">
              <a:solidFill>
                <a:srgbClr val="000000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</a:endParaRPr>
          </a:p>
          <a:p>
            <a:pPr marL="0" indent="0" algn="ctr">
              <a:lnSpc>
                <a:spcPts val="6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5499" b="0" i="0" u="none" strike="noStrike" kern="1200" cap="none" spc="0" baseline="0">
                <a:solidFill>
                  <a:srgbClr val="000000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</a:rPr>
              <a:t>2.M.Narkis banu</a:t>
            </a:r>
            <a:endParaRPr lang="en-US" altLang="zh-CN" sz="5499" b="0" i="0" u="none" strike="noStrike" kern="1200" cap="none" spc="0" baseline="0">
              <a:solidFill>
                <a:srgbClr val="000000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</a:endParaRPr>
          </a:p>
          <a:p>
            <a:pPr marL="0" indent="0" algn="ctr">
              <a:lnSpc>
                <a:spcPts val="6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5499" b="0" i="0" u="none" strike="noStrike" kern="1200" cap="none" spc="0" baseline="0">
                <a:solidFill>
                  <a:srgbClr val="000000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</a:rPr>
              <a:t>3.P.Muthukumaran</a:t>
            </a:r>
            <a:endParaRPr lang="en-US" altLang="zh-CN" sz="5499" b="0" i="0" u="none" strike="noStrike" kern="1200" cap="none" spc="0" baseline="0">
              <a:solidFill>
                <a:srgbClr val="000000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</a:endParaRPr>
          </a:p>
          <a:p>
            <a:pPr marL="0" indent="0" algn="ctr">
              <a:lnSpc>
                <a:spcPts val="6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5499" b="0" i="0" u="none" strike="noStrike" kern="1200" cap="none" spc="0" baseline="0">
                <a:solidFill>
                  <a:srgbClr val="000000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</a:rPr>
              <a:t>4.M.Mugilan</a:t>
            </a:r>
            <a:endParaRPr lang="zh-CN" altLang="en-US" sz="5499" b="0" i="0" u="none" strike="noStrike" kern="1200" cap="none" spc="0" baseline="0">
              <a:solidFill>
                <a:srgbClr val="000000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12" name="矩形"/>
          <p:cNvSpPr>
            <a:spLocks/>
          </p:cNvSpPr>
          <p:nvPr/>
        </p:nvSpPr>
        <p:spPr>
          <a:xfrm rot="0">
            <a:off x="5541429" y="2909226"/>
            <a:ext cx="8070703" cy="62750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118" b="0" i="0" u="none" strike="noStrike" kern="1200" cap="none" spc="0" baseline="0">
                <a:solidFill>
                  <a:srgbClr val="000000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Team Leader :</a:t>
            </a:r>
            <a:r>
              <a:rPr lang="en-US" altLang="zh-CN" sz="4118" b="0" i="0" u="none" strike="noStrike" kern="1200" cap="none" spc="0" baseline="0">
                <a:solidFill>
                  <a:srgbClr val="000000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</a:rPr>
              <a:t>M.J Mythra shree</a:t>
            </a:r>
            <a:endParaRPr lang="zh-CN" altLang="en-US" sz="4118" b="0" i="0" u="none" strike="noStrike" kern="1200" cap="none" spc="0" baseline="0">
              <a:solidFill>
                <a:srgbClr val="000000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151261"/>
      </p:ext>
    </p:extLst>
  </p:cSld>
  <p:clrMapOvr>
    <a:masterClrMapping/>
  </p:clrMapOvr>
</p:sld>
</file>

<file path=ppt/slides/slide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6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"/>
          <p:cNvSpPr>
            <a:spLocks/>
          </p:cNvSpPr>
          <p:nvPr/>
        </p:nvSpPr>
        <p:spPr>
          <a:xfrm rot="0">
            <a:off x="1189577" y="2030492"/>
            <a:ext cx="9837630" cy="189877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79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6605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LegalEase</a:t>
            </a:r>
            <a:endParaRPr lang="en-US" altLang="zh-CN" sz="6605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  <a:p>
            <a:pPr marL="0" indent="0" algn="l">
              <a:lnSpc>
                <a:spcPts val="41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452" b="0" i="0" u="none" strike="noStrike" kern="1200" cap="none" spc="0" baseline="0">
                <a:solidFill>
                  <a:srgbClr val="366FC4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AI-Powered Legal Document Generator</a:t>
            </a:r>
            <a:endParaRPr lang="en-US" altLang="zh-CN" sz="3452" b="0" i="0" u="none" strike="noStrike" kern="1200" cap="none" spc="0" baseline="0">
              <a:solidFill>
                <a:srgbClr val="366FC4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  <a:p>
            <a:pPr marL="0" indent="0" algn="l">
              <a:lnSpc>
                <a:spcPts val="28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1" b="0" i="0" u="none" strike="noStrike" kern="1200" cap="none" spc="0" baseline="0">
                <a:solidFill>
                  <a:srgbClr val="525C6C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Smart • Simple • Faster</a:t>
            </a:r>
            <a:endParaRPr lang="zh-CN" altLang="en-US" sz="2401" b="0" i="0" u="none" strike="noStrike" kern="1200" cap="none" spc="0" baseline="0">
              <a:solidFill>
                <a:srgbClr val="525C6C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</p:txBody>
      </p:sp>
      <p:grpSp>
        <p:nvGrpSpPr>
          <p:cNvPr id="15" name="组合"/>
          <p:cNvGrpSpPr>
            <a:grpSpLocks/>
          </p:cNvGrpSpPr>
          <p:nvPr/>
        </p:nvGrpSpPr>
        <p:grpSpPr>
          <a:xfrm>
            <a:off x="12346904" y="2051856"/>
            <a:ext cx="3445955" cy="1386935"/>
            <a:chOff x="12346904" y="2051856"/>
            <a:chExt cx="3445955" cy="1386935"/>
          </a:xfrm>
        </p:grpSpPr>
        <p:sp>
          <p:nvSpPr>
            <p:cNvPr id="14" name="曲线"/>
            <p:cNvSpPr>
              <a:spLocks/>
            </p:cNvSpPr>
            <p:nvPr/>
          </p:nvSpPr>
          <p:spPr>
            <a:xfrm rot="0">
              <a:off x="12346904" y="2051856"/>
              <a:ext cx="3445955" cy="1386935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600"/>
                  </a:moveTo>
                  <a:cubicBezTo>
                    <a:pt x="0" y="1612"/>
                    <a:pt x="648" y="0"/>
                    <a:pt x="1449" y="0"/>
                  </a:cubicBezTo>
                  <a:lnTo>
                    <a:pt x="20150" y="0"/>
                  </a:lnTo>
                  <a:cubicBezTo>
                    <a:pt x="20951" y="0"/>
                    <a:pt x="21600" y="1612"/>
                    <a:pt x="21600" y="3600"/>
                  </a:cubicBezTo>
                  <a:lnTo>
                    <a:pt x="21600" y="17999"/>
                  </a:lnTo>
                  <a:cubicBezTo>
                    <a:pt x="21600" y="19987"/>
                    <a:pt x="20951" y="21600"/>
                    <a:pt x="20150" y="21600"/>
                  </a:cubicBezTo>
                  <a:lnTo>
                    <a:pt x="1449" y="21600"/>
                  </a:lnTo>
                  <a:cubicBezTo>
                    <a:pt x="648" y="21600"/>
                    <a:pt x="0" y="19989"/>
                    <a:pt x="0" y="17999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16" name="矩形"/>
          <p:cNvSpPr>
            <a:spLocks/>
          </p:cNvSpPr>
          <p:nvPr/>
        </p:nvSpPr>
        <p:spPr>
          <a:xfrm rot="0">
            <a:off x="12555303" y="2176443"/>
            <a:ext cx="3029169" cy="36601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28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USER</a:t>
            </a:r>
            <a:endParaRPr lang="zh-CN" altLang="en-US" sz="240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grpSp>
        <p:nvGrpSpPr>
          <p:cNvPr id="18" name="组合"/>
          <p:cNvGrpSpPr>
            <a:grpSpLocks/>
          </p:cNvGrpSpPr>
          <p:nvPr/>
        </p:nvGrpSpPr>
        <p:grpSpPr>
          <a:xfrm>
            <a:off x="12346904" y="4248131"/>
            <a:ext cx="3445955" cy="1386934"/>
            <a:chOff x="12346904" y="4248131"/>
            <a:chExt cx="3445955" cy="1386934"/>
          </a:xfrm>
        </p:grpSpPr>
        <p:sp>
          <p:nvSpPr>
            <p:cNvPr id="17" name="曲线"/>
            <p:cNvSpPr>
              <a:spLocks/>
            </p:cNvSpPr>
            <p:nvPr/>
          </p:nvSpPr>
          <p:spPr>
            <a:xfrm rot="0">
              <a:off x="12346904" y="4248131"/>
              <a:ext cx="3445955" cy="1386934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600"/>
                  </a:moveTo>
                  <a:cubicBezTo>
                    <a:pt x="0" y="1612"/>
                    <a:pt x="648" y="0"/>
                    <a:pt x="1449" y="0"/>
                  </a:cubicBezTo>
                  <a:lnTo>
                    <a:pt x="20150" y="0"/>
                  </a:lnTo>
                  <a:cubicBezTo>
                    <a:pt x="20951" y="0"/>
                    <a:pt x="21600" y="1612"/>
                    <a:pt x="21600" y="3600"/>
                  </a:cubicBezTo>
                  <a:lnTo>
                    <a:pt x="21600" y="17999"/>
                  </a:lnTo>
                  <a:cubicBezTo>
                    <a:pt x="21600" y="19987"/>
                    <a:pt x="20951" y="21600"/>
                    <a:pt x="20150" y="21600"/>
                  </a:cubicBezTo>
                  <a:lnTo>
                    <a:pt x="1449" y="21600"/>
                  </a:lnTo>
                  <a:cubicBezTo>
                    <a:pt x="648" y="21600"/>
                    <a:pt x="0" y="19989"/>
                    <a:pt x="0" y="17999"/>
                  </a:cubicBezTo>
                  <a:close/>
                </a:path>
              </a:pathLst>
            </a:custGeom>
            <a:solidFill>
              <a:srgbClr val="E8F6F4"/>
            </a:solidFill>
            <a:ln w="14299" cmpd="sng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19" name="矩形"/>
          <p:cNvSpPr>
            <a:spLocks/>
          </p:cNvSpPr>
          <p:nvPr/>
        </p:nvSpPr>
        <p:spPr>
          <a:xfrm rot="0">
            <a:off x="12555303" y="4372718"/>
            <a:ext cx="3029169" cy="36601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28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AI ENGINE</a:t>
            </a:r>
            <a:endParaRPr lang="zh-CN" altLang="en-US" sz="240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grpSp>
        <p:nvGrpSpPr>
          <p:cNvPr id="21" name="组合"/>
          <p:cNvGrpSpPr>
            <a:grpSpLocks/>
          </p:cNvGrpSpPr>
          <p:nvPr/>
        </p:nvGrpSpPr>
        <p:grpSpPr>
          <a:xfrm>
            <a:off x="12346904" y="6444415"/>
            <a:ext cx="3445955" cy="1386934"/>
            <a:chOff x="12346904" y="6444415"/>
            <a:chExt cx="3445955" cy="1386934"/>
          </a:xfrm>
        </p:grpSpPr>
        <p:sp>
          <p:nvSpPr>
            <p:cNvPr id="20" name="曲线"/>
            <p:cNvSpPr>
              <a:spLocks/>
            </p:cNvSpPr>
            <p:nvPr/>
          </p:nvSpPr>
          <p:spPr>
            <a:xfrm rot="0">
              <a:off x="12346904" y="6444415"/>
              <a:ext cx="3445955" cy="1386934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600"/>
                  </a:moveTo>
                  <a:cubicBezTo>
                    <a:pt x="0" y="1612"/>
                    <a:pt x="648" y="0"/>
                    <a:pt x="1449" y="0"/>
                  </a:cubicBezTo>
                  <a:lnTo>
                    <a:pt x="20150" y="0"/>
                  </a:lnTo>
                  <a:cubicBezTo>
                    <a:pt x="20951" y="0"/>
                    <a:pt x="21600" y="1612"/>
                    <a:pt x="21600" y="3600"/>
                  </a:cubicBezTo>
                  <a:lnTo>
                    <a:pt x="21600" y="17999"/>
                  </a:lnTo>
                  <a:cubicBezTo>
                    <a:pt x="21600" y="19987"/>
                    <a:pt x="20951" y="21600"/>
                    <a:pt x="20150" y="21600"/>
                  </a:cubicBezTo>
                  <a:lnTo>
                    <a:pt x="1449" y="21600"/>
                  </a:lnTo>
                  <a:cubicBezTo>
                    <a:pt x="648" y="21600"/>
                    <a:pt x="0" y="19989"/>
                    <a:pt x="0" y="17999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22" name="矩形"/>
          <p:cNvSpPr>
            <a:spLocks/>
          </p:cNvSpPr>
          <p:nvPr/>
        </p:nvSpPr>
        <p:spPr>
          <a:xfrm rot="0">
            <a:off x="12555303" y="6549942"/>
            <a:ext cx="3029169" cy="68630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27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5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LEGAL</a:t>
            </a:r>
            <a:endParaRPr lang="en-US" altLang="zh-CN" sz="225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  <a:p>
            <a:pPr marL="0" indent="0" algn="ctr">
              <a:lnSpc>
                <a:spcPts val="27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5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DOCUMENT</a:t>
            </a:r>
            <a:endParaRPr lang="zh-CN" altLang="en-US" sz="225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23" name="直线"/>
          <p:cNvSpPr>
            <a:spLocks/>
          </p:cNvSpPr>
          <p:nvPr/>
        </p:nvSpPr>
        <p:spPr>
          <a:xfrm rot="5247960">
            <a:off x="13638599" y="3833955"/>
            <a:ext cx="862573" cy="0"/>
          </a:xfrm>
          <a:prstGeom prst="line"/>
          <a:noFill/>
          <a:ln w="19050" cmpd="sng" cap="rnd">
            <a:solidFill>
              <a:srgbClr val="366FC4"/>
            </a:solidFill>
            <a:prstDash val="solid"/>
            <a:round/>
          </a:ln>
        </p:spPr>
      </p:sp>
      <p:sp>
        <p:nvSpPr>
          <p:cNvPr id="24" name="直线"/>
          <p:cNvSpPr>
            <a:spLocks/>
          </p:cNvSpPr>
          <p:nvPr/>
        </p:nvSpPr>
        <p:spPr>
          <a:xfrm rot="5247960">
            <a:off x="13638599" y="6030230"/>
            <a:ext cx="862573" cy="0"/>
          </a:xfrm>
          <a:prstGeom prst="line"/>
          <a:noFill/>
          <a:ln w="19050" cmpd="sng" cap="rnd">
            <a:solidFill>
              <a:srgbClr val="366FC4"/>
            </a:solidFill>
            <a:prstDash val="solid"/>
            <a:round/>
          </a:ln>
        </p:spPr>
      </p:sp>
      <p:sp>
        <p:nvSpPr>
          <p:cNvPr id="25" name="矩形"/>
          <p:cNvSpPr>
            <a:spLocks/>
          </p:cNvSpPr>
          <p:nvPr/>
        </p:nvSpPr>
        <p:spPr>
          <a:xfrm rot="0">
            <a:off x="16426244" y="9694488"/>
            <a:ext cx="640727" cy="2057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r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51" b="0" i="0" u="none" strike="noStrike" kern="1200" cap="none" spc="0" baseline="0">
                <a:solidFill>
                  <a:srgbClr val="525C6C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1</a:t>
            </a:r>
            <a:endParaRPr lang="zh-CN" altLang="en-US" sz="1351" b="0" i="0" u="none" strike="noStrike" kern="1200" cap="none" spc="0" baseline="0">
              <a:solidFill>
                <a:srgbClr val="525C6C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5269942"/>
      </p:ext>
    </p:extLst>
  </p:cSld>
  <p:clrMapOvr>
    <a:masterClrMapping/>
  </p:clrMapOvr>
</p:sld>
</file>

<file path=ppt/slides/slide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6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"/>
          <p:cNvSpPr>
            <a:spLocks/>
          </p:cNvSpPr>
          <p:nvPr/>
        </p:nvSpPr>
        <p:spPr>
          <a:xfrm rot="0">
            <a:off x="846410" y="344348"/>
            <a:ext cx="12033904" cy="64046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50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203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1. Introduction</a:t>
            </a:r>
            <a:endParaRPr lang="zh-CN" altLang="en-US" sz="4203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27" name="矩形"/>
          <p:cNvSpPr>
            <a:spLocks/>
          </p:cNvSpPr>
          <p:nvPr/>
        </p:nvSpPr>
        <p:spPr>
          <a:xfrm rot="0">
            <a:off x="887587" y="1188120"/>
            <a:ext cx="13269306" cy="27444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1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1" b="0" i="0" u="none" strike="noStrike" kern="1200" cap="none" spc="0" baseline="0">
                <a:solidFill>
                  <a:srgbClr val="525C6C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Why LegalEase?</a:t>
            </a:r>
            <a:endParaRPr lang="zh-CN" altLang="en-US" sz="1801" b="0" i="0" u="none" strike="noStrike" kern="1200" cap="none" spc="0" baseline="0">
              <a:solidFill>
                <a:srgbClr val="525C6C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</p:txBody>
      </p:sp>
      <p:grpSp>
        <p:nvGrpSpPr>
          <p:cNvPr id="29" name="组合"/>
          <p:cNvGrpSpPr>
            <a:grpSpLocks/>
          </p:cNvGrpSpPr>
          <p:nvPr/>
        </p:nvGrpSpPr>
        <p:grpSpPr>
          <a:xfrm>
            <a:off x="953719" y="2120494"/>
            <a:ext cx="7701344" cy="1867471"/>
            <a:chOff x="953719" y="2120494"/>
            <a:chExt cx="7701344" cy="1867471"/>
          </a:xfrm>
        </p:grpSpPr>
        <p:sp>
          <p:nvSpPr>
            <p:cNvPr id="28" name="曲线"/>
            <p:cNvSpPr>
              <a:spLocks/>
            </p:cNvSpPr>
            <p:nvPr/>
          </p:nvSpPr>
          <p:spPr>
            <a:xfrm rot="0">
              <a:off x="953719" y="2120494"/>
              <a:ext cx="7701344" cy="1867471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600"/>
                  </a:moveTo>
                  <a:cubicBezTo>
                    <a:pt x="0" y="1611"/>
                    <a:pt x="390" y="0"/>
                    <a:pt x="873" y="0"/>
                  </a:cubicBezTo>
                  <a:lnTo>
                    <a:pt x="20726" y="0"/>
                  </a:lnTo>
                  <a:cubicBezTo>
                    <a:pt x="21209" y="0"/>
                    <a:pt x="21600" y="1611"/>
                    <a:pt x="21600" y="3600"/>
                  </a:cubicBezTo>
                  <a:lnTo>
                    <a:pt x="21600" y="17999"/>
                  </a:lnTo>
                  <a:cubicBezTo>
                    <a:pt x="21600" y="19988"/>
                    <a:pt x="21209" y="21599"/>
                    <a:pt x="20726" y="21599"/>
                  </a:cubicBezTo>
                  <a:lnTo>
                    <a:pt x="873" y="21599"/>
                  </a:lnTo>
                  <a:cubicBezTo>
                    <a:pt x="390" y="21598"/>
                    <a:pt x="0" y="19987"/>
                    <a:pt x="0" y="17999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id="31" name="组合"/>
          <p:cNvGrpSpPr>
            <a:grpSpLocks/>
          </p:cNvGrpSpPr>
          <p:nvPr/>
        </p:nvGrpSpPr>
        <p:grpSpPr>
          <a:xfrm>
            <a:off x="960871" y="2127647"/>
            <a:ext cx="109823" cy="1853089"/>
            <a:chOff x="960871" y="2127647"/>
            <a:chExt cx="109823" cy="1853089"/>
          </a:xfrm>
        </p:grpSpPr>
        <p:sp>
          <p:nvSpPr>
            <p:cNvPr id="30" name="曲线"/>
            <p:cNvSpPr>
              <a:spLocks/>
            </p:cNvSpPr>
            <p:nvPr/>
          </p:nvSpPr>
          <p:spPr>
            <a:xfrm rot="0">
              <a:off x="960871" y="2127647"/>
              <a:ext cx="109823" cy="185308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366FC4"/>
            </a:solidFill>
            <a:ln cmpd="sng" cap="flat">
              <a:noFill/>
              <a:prstDash val="solid"/>
              <a:miter/>
            </a:ln>
          </p:spPr>
        </p:sp>
      </p:grpSp>
      <p:sp>
        <p:nvSpPr>
          <p:cNvPr id="32" name="矩形"/>
          <p:cNvSpPr>
            <a:spLocks/>
          </p:cNvSpPr>
          <p:nvPr/>
        </p:nvSpPr>
        <p:spPr>
          <a:xfrm rot="0">
            <a:off x="1395479" y="2335844"/>
            <a:ext cx="6886384" cy="34315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7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5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Legal documents</a:t>
            </a:r>
            <a:endParaRPr lang="zh-CN" altLang="en-US" sz="225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33" name="矩形"/>
          <p:cNvSpPr>
            <a:spLocks/>
          </p:cNvSpPr>
          <p:nvPr/>
        </p:nvSpPr>
        <p:spPr>
          <a:xfrm rot="0">
            <a:off x="1395479" y="2986315"/>
            <a:ext cx="6886384" cy="52577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26" b="0" i="0" u="none" strike="noStrike" kern="1200" cap="none" spc="0" baseline="0">
                <a:solidFill>
                  <a:srgbClr val="525C6C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Contracts, agreements, notices and other documents are important in everyday and business activities.</a:t>
            </a:r>
            <a:endParaRPr lang="zh-CN" altLang="en-US" sz="1726" b="0" i="0" u="none" strike="noStrike" kern="1200" cap="none" spc="0" baseline="0">
              <a:solidFill>
                <a:srgbClr val="525C6C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</p:txBody>
      </p:sp>
      <p:grpSp>
        <p:nvGrpSpPr>
          <p:cNvPr id="35" name="组合"/>
          <p:cNvGrpSpPr>
            <a:grpSpLocks/>
          </p:cNvGrpSpPr>
          <p:nvPr/>
        </p:nvGrpSpPr>
        <p:grpSpPr>
          <a:xfrm>
            <a:off x="953719" y="4316768"/>
            <a:ext cx="7701344" cy="1867471"/>
            <a:chOff x="953719" y="4316768"/>
            <a:chExt cx="7701344" cy="1867471"/>
          </a:xfrm>
        </p:grpSpPr>
        <p:sp>
          <p:nvSpPr>
            <p:cNvPr id="34" name="曲线"/>
            <p:cNvSpPr>
              <a:spLocks/>
            </p:cNvSpPr>
            <p:nvPr/>
          </p:nvSpPr>
          <p:spPr>
            <a:xfrm rot="0">
              <a:off x="953719" y="4316768"/>
              <a:ext cx="7701344" cy="1867471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600"/>
                  </a:moveTo>
                  <a:cubicBezTo>
                    <a:pt x="0" y="1611"/>
                    <a:pt x="390" y="0"/>
                    <a:pt x="873" y="0"/>
                  </a:cubicBezTo>
                  <a:lnTo>
                    <a:pt x="20726" y="0"/>
                  </a:lnTo>
                  <a:cubicBezTo>
                    <a:pt x="21209" y="0"/>
                    <a:pt x="21600" y="1611"/>
                    <a:pt x="21600" y="3600"/>
                  </a:cubicBezTo>
                  <a:lnTo>
                    <a:pt x="21600" y="17999"/>
                  </a:lnTo>
                  <a:cubicBezTo>
                    <a:pt x="21600" y="19988"/>
                    <a:pt x="21209" y="21600"/>
                    <a:pt x="20726" y="21600"/>
                  </a:cubicBezTo>
                  <a:lnTo>
                    <a:pt x="873" y="21600"/>
                  </a:lnTo>
                  <a:cubicBezTo>
                    <a:pt x="390" y="21598"/>
                    <a:pt x="0" y="19987"/>
                    <a:pt x="0" y="17999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id="37" name="组合"/>
          <p:cNvGrpSpPr>
            <a:grpSpLocks/>
          </p:cNvGrpSpPr>
          <p:nvPr/>
        </p:nvGrpSpPr>
        <p:grpSpPr>
          <a:xfrm>
            <a:off x="960871" y="4323921"/>
            <a:ext cx="109823" cy="1853089"/>
            <a:chOff x="960871" y="4323921"/>
            <a:chExt cx="109823" cy="1853089"/>
          </a:xfrm>
        </p:grpSpPr>
        <p:sp>
          <p:nvSpPr>
            <p:cNvPr id="36" name="曲线"/>
            <p:cNvSpPr>
              <a:spLocks/>
            </p:cNvSpPr>
            <p:nvPr/>
          </p:nvSpPr>
          <p:spPr>
            <a:xfrm rot="0">
              <a:off x="960871" y="4323921"/>
              <a:ext cx="109823" cy="185308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366FC4"/>
            </a:solidFill>
            <a:ln cmpd="sng" cap="flat">
              <a:noFill/>
              <a:prstDash val="solid"/>
              <a:miter/>
            </a:ln>
          </p:spPr>
        </p:sp>
      </p:grpSp>
      <p:sp>
        <p:nvSpPr>
          <p:cNvPr id="38" name="矩形"/>
          <p:cNvSpPr>
            <a:spLocks/>
          </p:cNvSpPr>
          <p:nvPr/>
        </p:nvSpPr>
        <p:spPr>
          <a:xfrm rot="0">
            <a:off x="1395479" y="4532119"/>
            <a:ext cx="6886384" cy="34315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7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5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The challenge</a:t>
            </a:r>
            <a:endParaRPr lang="zh-CN" altLang="en-US" sz="225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39" name="矩形"/>
          <p:cNvSpPr>
            <a:spLocks/>
          </p:cNvSpPr>
          <p:nvPr/>
        </p:nvSpPr>
        <p:spPr>
          <a:xfrm rot="0">
            <a:off x="1395479" y="5182591"/>
            <a:ext cx="6886384" cy="52578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26" b="0" i="0" u="none" strike="noStrike" kern="1200" cap="none" spc="0" baseline="0">
                <a:solidFill>
                  <a:srgbClr val="525C6C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Manual drafting can take time, and legal language may be difficult for non-experts.</a:t>
            </a:r>
            <a:endParaRPr lang="zh-CN" altLang="en-US" sz="1726" b="0" i="0" u="none" strike="noStrike" kern="1200" cap="none" spc="0" baseline="0">
              <a:solidFill>
                <a:srgbClr val="525C6C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</p:txBody>
      </p:sp>
      <p:grpSp>
        <p:nvGrpSpPr>
          <p:cNvPr id="41" name="组合"/>
          <p:cNvGrpSpPr>
            <a:grpSpLocks/>
          </p:cNvGrpSpPr>
          <p:nvPr/>
        </p:nvGrpSpPr>
        <p:grpSpPr>
          <a:xfrm>
            <a:off x="9601562" y="2120494"/>
            <a:ext cx="7701344" cy="1867471"/>
            <a:chOff x="9601562" y="2120494"/>
            <a:chExt cx="7701344" cy="1867471"/>
          </a:xfrm>
        </p:grpSpPr>
        <p:sp>
          <p:nvSpPr>
            <p:cNvPr id="40" name="曲线"/>
            <p:cNvSpPr>
              <a:spLocks/>
            </p:cNvSpPr>
            <p:nvPr/>
          </p:nvSpPr>
          <p:spPr>
            <a:xfrm rot="0">
              <a:off x="9601562" y="2120494"/>
              <a:ext cx="7701344" cy="1867471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600"/>
                  </a:moveTo>
                  <a:cubicBezTo>
                    <a:pt x="0" y="1611"/>
                    <a:pt x="390" y="0"/>
                    <a:pt x="873" y="0"/>
                  </a:cubicBezTo>
                  <a:lnTo>
                    <a:pt x="20726" y="0"/>
                  </a:lnTo>
                  <a:cubicBezTo>
                    <a:pt x="21209" y="0"/>
                    <a:pt x="21600" y="1611"/>
                    <a:pt x="21600" y="3600"/>
                  </a:cubicBezTo>
                  <a:lnTo>
                    <a:pt x="21600" y="17999"/>
                  </a:lnTo>
                  <a:cubicBezTo>
                    <a:pt x="21600" y="19988"/>
                    <a:pt x="21209" y="21599"/>
                    <a:pt x="20726" y="21599"/>
                  </a:cubicBezTo>
                  <a:lnTo>
                    <a:pt x="873" y="21599"/>
                  </a:lnTo>
                  <a:cubicBezTo>
                    <a:pt x="390" y="21598"/>
                    <a:pt x="0" y="19987"/>
                    <a:pt x="0" y="17999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id="43" name="组合"/>
          <p:cNvGrpSpPr>
            <a:grpSpLocks/>
          </p:cNvGrpSpPr>
          <p:nvPr/>
        </p:nvGrpSpPr>
        <p:grpSpPr>
          <a:xfrm>
            <a:off x="9608705" y="2127647"/>
            <a:ext cx="109823" cy="1853089"/>
            <a:chOff x="9608705" y="2127647"/>
            <a:chExt cx="109823" cy="1853089"/>
          </a:xfrm>
        </p:grpSpPr>
        <p:sp>
          <p:nvSpPr>
            <p:cNvPr id="42" name="曲线"/>
            <p:cNvSpPr>
              <a:spLocks/>
            </p:cNvSpPr>
            <p:nvPr/>
          </p:nvSpPr>
          <p:spPr>
            <a:xfrm rot="0">
              <a:off x="9608705" y="2127647"/>
              <a:ext cx="109823" cy="185308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366FC4"/>
            </a:solidFill>
            <a:ln cmpd="sng" cap="flat">
              <a:noFill/>
              <a:prstDash val="solid"/>
              <a:miter/>
            </a:ln>
          </p:spPr>
        </p:sp>
      </p:grpSp>
      <p:sp>
        <p:nvSpPr>
          <p:cNvPr id="44" name="矩形"/>
          <p:cNvSpPr>
            <a:spLocks/>
          </p:cNvSpPr>
          <p:nvPr/>
        </p:nvSpPr>
        <p:spPr>
          <a:xfrm rot="0">
            <a:off x="10043312" y="2335844"/>
            <a:ext cx="6886384" cy="34315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7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5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The idea</a:t>
            </a:r>
            <a:endParaRPr lang="zh-CN" altLang="en-US" sz="225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45" name="矩形"/>
          <p:cNvSpPr>
            <a:spLocks/>
          </p:cNvSpPr>
          <p:nvPr/>
        </p:nvSpPr>
        <p:spPr>
          <a:xfrm rot="0">
            <a:off x="10043312" y="2986315"/>
            <a:ext cx="6886384" cy="52577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26" b="0" i="0" u="none" strike="noStrike" kern="1200" cap="none" spc="0" baseline="0">
                <a:solidFill>
                  <a:srgbClr val="525C6C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LegalEase uses AI to convert user-provided information into a structured document draft.</a:t>
            </a:r>
            <a:endParaRPr lang="zh-CN" altLang="en-US" sz="1726" b="0" i="0" u="none" strike="noStrike" kern="1200" cap="none" spc="0" baseline="0">
              <a:solidFill>
                <a:srgbClr val="525C6C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</p:txBody>
      </p:sp>
      <p:grpSp>
        <p:nvGrpSpPr>
          <p:cNvPr id="47" name="组合"/>
          <p:cNvGrpSpPr>
            <a:grpSpLocks/>
          </p:cNvGrpSpPr>
          <p:nvPr/>
        </p:nvGrpSpPr>
        <p:grpSpPr>
          <a:xfrm>
            <a:off x="9601562" y="4316768"/>
            <a:ext cx="7701344" cy="1867471"/>
            <a:chOff x="9601562" y="4316768"/>
            <a:chExt cx="7701344" cy="1867471"/>
          </a:xfrm>
        </p:grpSpPr>
        <p:sp>
          <p:nvSpPr>
            <p:cNvPr id="46" name="曲线"/>
            <p:cNvSpPr>
              <a:spLocks/>
            </p:cNvSpPr>
            <p:nvPr/>
          </p:nvSpPr>
          <p:spPr>
            <a:xfrm rot="0">
              <a:off x="9601562" y="4316768"/>
              <a:ext cx="7701344" cy="1867471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600"/>
                  </a:moveTo>
                  <a:cubicBezTo>
                    <a:pt x="0" y="1611"/>
                    <a:pt x="390" y="0"/>
                    <a:pt x="873" y="0"/>
                  </a:cubicBezTo>
                  <a:lnTo>
                    <a:pt x="20726" y="0"/>
                  </a:lnTo>
                  <a:cubicBezTo>
                    <a:pt x="21209" y="0"/>
                    <a:pt x="21600" y="1611"/>
                    <a:pt x="21600" y="3600"/>
                  </a:cubicBezTo>
                  <a:lnTo>
                    <a:pt x="21600" y="17999"/>
                  </a:lnTo>
                  <a:cubicBezTo>
                    <a:pt x="21600" y="19988"/>
                    <a:pt x="21209" y="21600"/>
                    <a:pt x="20726" y="21600"/>
                  </a:cubicBezTo>
                  <a:lnTo>
                    <a:pt x="873" y="21600"/>
                  </a:lnTo>
                  <a:cubicBezTo>
                    <a:pt x="390" y="21598"/>
                    <a:pt x="0" y="19987"/>
                    <a:pt x="0" y="17999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id="49" name="组合"/>
          <p:cNvGrpSpPr>
            <a:grpSpLocks/>
          </p:cNvGrpSpPr>
          <p:nvPr/>
        </p:nvGrpSpPr>
        <p:grpSpPr>
          <a:xfrm>
            <a:off x="9608705" y="4323921"/>
            <a:ext cx="109823" cy="1853089"/>
            <a:chOff x="9608705" y="4323921"/>
            <a:chExt cx="109823" cy="1853089"/>
          </a:xfrm>
        </p:grpSpPr>
        <p:sp>
          <p:nvSpPr>
            <p:cNvPr id="48" name="曲线"/>
            <p:cNvSpPr>
              <a:spLocks/>
            </p:cNvSpPr>
            <p:nvPr/>
          </p:nvSpPr>
          <p:spPr>
            <a:xfrm rot="0">
              <a:off x="9608705" y="4323921"/>
              <a:ext cx="109823" cy="185308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366FC4"/>
            </a:solidFill>
            <a:ln cmpd="sng" cap="flat">
              <a:noFill/>
              <a:prstDash val="solid"/>
              <a:miter/>
            </a:ln>
          </p:spPr>
        </p:sp>
      </p:grpSp>
      <p:sp>
        <p:nvSpPr>
          <p:cNvPr id="50" name="矩形"/>
          <p:cNvSpPr>
            <a:spLocks/>
          </p:cNvSpPr>
          <p:nvPr/>
        </p:nvSpPr>
        <p:spPr>
          <a:xfrm rot="0">
            <a:off x="10043312" y="4532119"/>
            <a:ext cx="6886384" cy="34315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7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5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Goal</a:t>
            </a:r>
            <a:endParaRPr lang="zh-CN" altLang="en-US" sz="225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51" name="矩形"/>
          <p:cNvSpPr>
            <a:spLocks/>
          </p:cNvSpPr>
          <p:nvPr/>
        </p:nvSpPr>
        <p:spPr>
          <a:xfrm rot="0">
            <a:off x="10043312" y="5182591"/>
            <a:ext cx="6886384" cy="26288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26" b="0" i="0" u="none" strike="noStrike" kern="1200" cap="none" spc="0" baseline="0">
                <a:solidFill>
                  <a:srgbClr val="525C6C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Make basic document drafting faster, clearer and easier to access.</a:t>
            </a:r>
            <a:endParaRPr lang="zh-CN" altLang="en-US" sz="1726" b="0" i="0" u="none" strike="noStrike" kern="1200" cap="none" spc="0" baseline="0">
              <a:solidFill>
                <a:srgbClr val="525C6C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</p:txBody>
      </p:sp>
      <p:grpSp>
        <p:nvGrpSpPr>
          <p:cNvPr id="53" name="组合"/>
          <p:cNvGrpSpPr>
            <a:grpSpLocks/>
          </p:cNvGrpSpPr>
          <p:nvPr/>
        </p:nvGrpSpPr>
        <p:grpSpPr>
          <a:xfrm>
            <a:off x="5758072" y="7336650"/>
            <a:ext cx="6603207" cy="1112519"/>
            <a:chOff x="5758072" y="7336650"/>
            <a:chExt cx="6603207" cy="1112519"/>
          </a:xfrm>
        </p:grpSpPr>
        <p:sp>
          <p:nvSpPr>
            <p:cNvPr id="52" name="曲线"/>
            <p:cNvSpPr>
              <a:spLocks/>
            </p:cNvSpPr>
            <p:nvPr/>
          </p:nvSpPr>
          <p:spPr>
            <a:xfrm rot="0">
              <a:off x="5758072" y="7336650"/>
              <a:ext cx="6603207" cy="111251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600"/>
                  </a:moveTo>
                  <a:cubicBezTo>
                    <a:pt x="0" y="1612"/>
                    <a:pt x="271" y="0"/>
                    <a:pt x="606" y="0"/>
                  </a:cubicBezTo>
                  <a:lnTo>
                    <a:pt x="20993" y="0"/>
                  </a:lnTo>
                  <a:cubicBezTo>
                    <a:pt x="21328" y="0"/>
                    <a:pt x="21600" y="1612"/>
                    <a:pt x="21600" y="3600"/>
                  </a:cubicBezTo>
                  <a:lnTo>
                    <a:pt x="21600" y="17999"/>
                  </a:lnTo>
                  <a:cubicBezTo>
                    <a:pt x="21600" y="19987"/>
                    <a:pt x="21328" y="21600"/>
                    <a:pt x="20993" y="21600"/>
                  </a:cubicBezTo>
                  <a:lnTo>
                    <a:pt x="606" y="21600"/>
                  </a:lnTo>
                  <a:cubicBezTo>
                    <a:pt x="271" y="21598"/>
                    <a:pt x="0" y="19987"/>
                    <a:pt x="0" y="17999"/>
                  </a:cubicBezTo>
                  <a:close/>
                </a:path>
              </a:pathLst>
            </a:custGeom>
            <a:solidFill>
              <a:srgbClr val="E8F6F4"/>
            </a:solidFill>
            <a:ln w="14299" cmpd="sng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54" name="矩形"/>
          <p:cNvSpPr>
            <a:spLocks/>
          </p:cNvSpPr>
          <p:nvPr/>
        </p:nvSpPr>
        <p:spPr>
          <a:xfrm rot="0">
            <a:off x="5966479" y="7442178"/>
            <a:ext cx="6186316" cy="34315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27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5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USER INPUT  →  AI  →  DOCUMENT</a:t>
            </a:r>
            <a:endParaRPr lang="zh-CN" altLang="en-US" sz="225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55" name="矩形"/>
          <p:cNvSpPr>
            <a:spLocks/>
          </p:cNvSpPr>
          <p:nvPr/>
        </p:nvSpPr>
        <p:spPr>
          <a:xfrm rot="0">
            <a:off x="16426244" y="9694488"/>
            <a:ext cx="640727" cy="2057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r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51" b="0" i="0" u="none" strike="noStrike" kern="1200" cap="none" spc="0" baseline="0">
                <a:solidFill>
                  <a:srgbClr val="525C6C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2</a:t>
            </a:r>
            <a:endParaRPr lang="zh-CN" altLang="en-US" sz="1351" b="0" i="0" u="none" strike="noStrike" kern="1200" cap="none" spc="0" baseline="0">
              <a:solidFill>
                <a:srgbClr val="525C6C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938154"/>
      </p:ext>
    </p:extLst>
  </p:cSld>
  <p:clrMapOvr>
    <a:masterClrMapping/>
  </p:clrMapOvr>
</p:sld>
</file>

<file path=ppt/slides/slide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6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矩形"/>
          <p:cNvSpPr>
            <a:spLocks/>
          </p:cNvSpPr>
          <p:nvPr/>
        </p:nvSpPr>
        <p:spPr>
          <a:xfrm rot="0">
            <a:off x="846410" y="344348"/>
            <a:ext cx="12033904" cy="64046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50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203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2. Problem Statement</a:t>
            </a:r>
            <a:endParaRPr lang="zh-CN" altLang="en-US" sz="4203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57" name="矩形"/>
          <p:cNvSpPr>
            <a:spLocks/>
          </p:cNvSpPr>
          <p:nvPr/>
        </p:nvSpPr>
        <p:spPr>
          <a:xfrm rot="0">
            <a:off x="887587" y="1188120"/>
            <a:ext cx="13269306" cy="27444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1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1" b="0" i="0" u="none" strike="noStrike" kern="1200" cap="none" spc="0" baseline="0">
                <a:solidFill>
                  <a:srgbClr val="525C6C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Limitations of traditional legal document preparation</a:t>
            </a:r>
            <a:endParaRPr lang="zh-CN" altLang="en-US" sz="1801" b="0" i="0" u="none" strike="noStrike" kern="1200" cap="none" spc="0" baseline="0">
              <a:solidFill>
                <a:srgbClr val="525C6C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</p:txBody>
      </p:sp>
      <p:grpSp>
        <p:nvGrpSpPr>
          <p:cNvPr id="59" name="组合"/>
          <p:cNvGrpSpPr>
            <a:grpSpLocks/>
          </p:cNvGrpSpPr>
          <p:nvPr/>
        </p:nvGrpSpPr>
        <p:grpSpPr>
          <a:xfrm>
            <a:off x="953719" y="2051856"/>
            <a:ext cx="7838503" cy="2279142"/>
            <a:chOff x="953719" y="2051856"/>
            <a:chExt cx="7838503" cy="2279142"/>
          </a:xfrm>
        </p:grpSpPr>
        <p:sp>
          <p:nvSpPr>
            <p:cNvPr id="58" name="曲线"/>
            <p:cNvSpPr>
              <a:spLocks/>
            </p:cNvSpPr>
            <p:nvPr/>
          </p:nvSpPr>
          <p:spPr>
            <a:xfrm rot="0">
              <a:off x="953719" y="2051856"/>
              <a:ext cx="7838503" cy="2279142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599"/>
                  </a:moveTo>
                  <a:cubicBezTo>
                    <a:pt x="0" y="1612"/>
                    <a:pt x="468" y="0"/>
                    <a:pt x="1046" y="0"/>
                  </a:cubicBezTo>
                  <a:lnTo>
                    <a:pt x="20553" y="0"/>
                  </a:lnTo>
                  <a:cubicBezTo>
                    <a:pt x="21131" y="0"/>
                    <a:pt x="21600" y="1612"/>
                    <a:pt x="21600" y="3599"/>
                  </a:cubicBezTo>
                  <a:lnTo>
                    <a:pt x="21600" y="17999"/>
                  </a:lnTo>
                  <a:cubicBezTo>
                    <a:pt x="21600" y="19987"/>
                    <a:pt x="21131" y="21599"/>
                    <a:pt x="20553" y="21599"/>
                  </a:cubicBezTo>
                  <a:lnTo>
                    <a:pt x="1046" y="21599"/>
                  </a:lnTo>
                  <a:cubicBezTo>
                    <a:pt x="468" y="21600"/>
                    <a:pt x="0" y="19987"/>
                    <a:pt x="0" y="17999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id="61" name="组合"/>
          <p:cNvGrpSpPr>
            <a:grpSpLocks/>
          </p:cNvGrpSpPr>
          <p:nvPr/>
        </p:nvGrpSpPr>
        <p:grpSpPr>
          <a:xfrm>
            <a:off x="960871" y="2059010"/>
            <a:ext cx="109823" cy="2264950"/>
            <a:chOff x="960871" y="2059010"/>
            <a:chExt cx="109823" cy="2264950"/>
          </a:xfrm>
        </p:grpSpPr>
        <p:sp>
          <p:nvSpPr>
            <p:cNvPr id="60" name="曲线"/>
            <p:cNvSpPr>
              <a:spLocks/>
            </p:cNvSpPr>
            <p:nvPr/>
          </p:nvSpPr>
          <p:spPr>
            <a:xfrm rot="0">
              <a:off x="960871" y="2059010"/>
              <a:ext cx="109823" cy="2264950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366FC4"/>
            </a:solidFill>
            <a:ln cmpd="sng" cap="flat">
              <a:noFill/>
              <a:prstDash val="solid"/>
              <a:miter/>
            </a:ln>
          </p:spPr>
        </p:sp>
      </p:grpSp>
      <p:sp>
        <p:nvSpPr>
          <p:cNvPr id="62" name="矩形"/>
          <p:cNvSpPr>
            <a:spLocks/>
          </p:cNvSpPr>
          <p:nvPr/>
        </p:nvSpPr>
        <p:spPr>
          <a:xfrm rot="0">
            <a:off x="1395479" y="2267207"/>
            <a:ext cx="7023649" cy="34315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7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5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TIME</a:t>
            </a:r>
            <a:endParaRPr lang="zh-CN" altLang="en-US" sz="225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63" name="矩形"/>
          <p:cNvSpPr>
            <a:spLocks/>
          </p:cNvSpPr>
          <p:nvPr/>
        </p:nvSpPr>
        <p:spPr>
          <a:xfrm rot="0">
            <a:off x="1395479" y="2917688"/>
            <a:ext cx="7023649" cy="26289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26" b="0" i="0" u="none" strike="noStrike" kern="1200" cap="none" spc="0" baseline="0">
                <a:solidFill>
                  <a:srgbClr val="525C6C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Manual drafting is repetitive.</a:t>
            </a:r>
            <a:endParaRPr lang="zh-CN" altLang="en-US" sz="1726" b="0" i="0" u="none" strike="noStrike" kern="1200" cap="none" spc="0" baseline="0">
              <a:solidFill>
                <a:srgbClr val="525C6C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</p:txBody>
      </p:sp>
      <p:grpSp>
        <p:nvGrpSpPr>
          <p:cNvPr id="65" name="组合"/>
          <p:cNvGrpSpPr>
            <a:grpSpLocks/>
          </p:cNvGrpSpPr>
          <p:nvPr/>
        </p:nvGrpSpPr>
        <p:grpSpPr>
          <a:xfrm>
            <a:off x="9532926" y="2051856"/>
            <a:ext cx="7838502" cy="2279142"/>
            <a:chOff x="9532926" y="2051856"/>
            <a:chExt cx="7838502" cy="2279142"/>
          </a:xfrm>
        </p:grpSpPr>
        <p:sp>
          <p:nvSpPr>
            <p:cNvPr id="64" name="曲线"/>
            <p:cNvSpPr>
              <a:spLocks/>
            </p:cNvSpPr>
            <p:nvPr/>
          </p:nvSpPr>
          <p:spPr>
            <a:xfrm rot="0">
              <a:off x="9532926" y="2051856"/>
              <a:ext cx="7838502" cy="2279142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599"/>
                  </a:moveTo>
                  <a:cubicBezTo>
                    <a:pt x="0" y="1612"/>
                    <a:pt x="468" y="0"/>
                    <a:pt x="1046" y="0"/>
                  </a:cubicBezTo>
                  <a:lnTo>
                    <a:pt x="20553" y="0"/>
                  </a:lnTo>
                  <a:cubicBezTo>
                    <a:pt x="21131" y="0"/>
                    <a:pt x="21600" y="1612"/>
                    <a:pt x="21600" y="3599"/>
                  </a:cubicBezTo>
                  <a:lnTo>
                    <a:pt x="21600" y="17999"/>
                  </a:lnTo>
                  <a:cubicBezTo>
                    <a:pt x="21600" y="19987"/>
                    <a:pt x="21131" y="21599"/>
                    <a:pt x="20553" y="21599"/>
                  </a:cubicBezTo>
                  <a:lnTo>
                    <a:pt x="1046" y="21599"/>
                  </a:lnTo>
                  <a:cubicBezTo>
                    <a:pt x="468" y="21600"/>
                    <a:pt x="0" y="19987"/>
                    <a:pt x="0" y="17999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id="67" name="组合"/>
          <p:cNvGrpSpPr>
            <a:grpSpLocks/>
          </p:cNvGrpSpPr>
          <p:nvPr/>
        </p:nvGrpSpPr>
        <p:grpSpPr>
          <a:xfrm>
            <a:off x="9540069" y="2059010"/>
            <a:ext cx="109823" cy="2264950"/>
            <a:chOff x="9540069" y="2059010"/>
            <a:chExt cx="109823" cy="2264950"/>
          </a:xfrm>
        </p:grpSpPr>
        <p:sp>
          <p:nvSpPr>
            <p:cNvPr id="66" name="曲线"/>
            <p:cNvSpPr>
              <a:spLocks/>
            </p:cNvSpPr>
            <p:nvPr/>
          </p:nvSpPr>
          <p:spPr>
            <a:xfrm rot="0">
              <a:off x="9540069" y="2059010"/>
              <a:ext cx="109823" cy="2264950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269D91"/>
            </a:solidFill>
            <a:ln cmpd="sng" cap="flat">
              <a:noFill/>
              <a:prstDash val="solid"/>
              <a:miter/>
            </a:ln>
          </p:spPr>
        </p:sp>
      </p:grpSp>
      <p:sp>
        <p:nvSpPr>
          <p:cNvPr id="68" name="矩形"/>
          <p:cNvSpPr>
            <a:spLocks/>
          </p:cNvSpPr>
          <p:nvPr/>
        </p:nvSpPr>
        <p:spPr>
          <a:xfrm rot="0">
            <a:off x="9974686" y="2267207"/>
            <a:ext cx="7023649" cy="34315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7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5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COST</a:t>
            </a:r>
            <a:endParaRPr lang="zh-CN" altLang="en-US" sz="225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69" name="矩形"/>
          <p:cNvSpPr>
            <a:spLocks/>
          </p:cNvSpPr>
          <p:nvPr/>
        </p:nvSpPr>
        <p:spPr>
          <a:xfrm rot="0">
            <a:off x="9974686" y="2917688"/>
            <a:ext cx="7023649" cy="26289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26" b="0" i="0" u="none" strike="noStrike" kern="1200" cap="none" spc="0" baseline="0">
                <a:solidFill>
                  <a:srgbClr val="525C6C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Professional drafting may be costly.</a:t>
            </a:r>
            <a:endParaRPr lang="zh-CN" altLang="en-US" sz="1726" b="0" i="0" u="none" strike="noStrike" kern="1200" cap="none" spc="0" baseline="0">
              <a:solidFill>
                <a:srgbClr val="525C6C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</p:txBody>
      </p:sp>
      <p:grpSp>
        <p:nvGrpSpPr>
          <p:cNvPr id="71" name="组合"/>
          <p:cNvGrpSpPr>
            <a:grpSpLocks/>
          </p:cNvGrpSpPr>
          <p:nvPr/>
        </p:nvGrpSpPr>
        <p:grpSpPr>
          <a:xfrm>
            <a:off x="953719" y="5003102"/>
            <a:ext cx="7838503" cy="2279141"/>
            <a:chOff x="953719" y="5003102"/>
            <a:chExt cx="7838503" cy="2279141"/>
          </a:xfrm>
        </p:grpSpPr>
        <p:sp>
          <p:nvSpPr>
            <p:cNvPr id="70" name="曲线"/>
            <p:cNvSpPr>
              <a:spLocks/>
            </p:cNvSpPr>
            <p:nvPr/>
          </p:nvSpPr>
          <p:spPr>
            <a:xfrm rot="0">
              <a:off x="953719" y="5003102"/>
              <a:ext cx="7838503" cy="2279141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599"/>
                  </a:moveTo>
                  <a:cubicBezTo>
                    <a:pt x="0" y="1612"/>
                    <a:pt x="468" y="0"/>
                    <a:pt x="1046" y="0"/>
                  </a:cubicBezTo>
                  <a:lnTo>
                    <a:pt x="20553" y="0"/>
                  </a:lnTo>
                  <a:cubicBezTo>
                    <a:pt x="21131" y="0"/>
                    <a:pt x="21600" y="1612"/>
                    <a:pt x="21600" y="3599"/>
                  </a:cubicBezTo>
                  <a:lnTo>
                    <a:pt x="21600" y="17999"/>
                  </a:lnTo>
                  <a:cubicBezTo>
                    <a:pt x="21600" y="19987"/>
                    <a:pt x="21131" y="21599"/>
                    <a:pt x="20553" y="21599"/>
                  </a:cubicBezTo>
                  <a:lnTo>
                    <a:pt x="1046" y="21599"/>
                  </a:lnTo>
                  <a:cubicBezTo>
                    <a:pt x="468" y="21600"/>
                    <a:pt x="0" y="19987"/>
                    <a:pt x="0" y="17999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id="73" name="组合"/>
          <p:cNvGrpSpPr>
            <a:grpSpLocks/>
          </p:cNvGrpSpPr>
          <p:nvPr/>
        </p:nvGrpSpPr>
        <p:grpSpPr>
          <a:xfrm>
            <a:off x="960871" y="5010255"/>
            <a:ext cx="109823" cy="2264950"/>
            <a:chOff x="960871" y="5010255"/>
            <a:chExt cx="109823" cy="2264950"/>
          </a:xfrm>
        </p:grpSpPr>
        <p:sp>
          <p:nvSpPr>
            <p:cNvPr id="72" name="曲线"/>
            <p:cNvSpPr>
              <a:spLocks/>
            </p:cNvSpPr>
            <p:nvPr/>
          </p:nvSpPr>
          <p:spPr>
            <a:xfrm rot="0">
              <a:off x="960871" y="5010255"/>
              <a:ext cx="109823" cy="2264950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162D4E"/>
            </a:solidFill>
            <a:ln cmpd="sng" cap="flat">
              <a:noFill/>
              <a:prstDash val="solid"/>
              <a:miter/>
            </a:ln>
          </p:spPr>
        </p:sp>
      </p:grpSp>
      <p:sp>
        <p:nvSpPr>
          <p:cNvPr id="74" name="矩形"/>
          <p:cNvSpPr>
            <a:spLocks/>
          </p:cNvSpPr>
          <p:nvPr/>
        </p:nvSpPr>
        <p:spPr>
          <a:xfrm rot="0">
            <a:off x="1395479" y="5218452"/>
            <a:ext cx="7023649" cy="34315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7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5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COMPLEXITY</a:t>
            </a:r>
            <a:endParaRPr lang="zh-CN" altLang="en-US" sz="225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75" name="矩形"/>
          <p:cNvSpPr>
            <a:spLocks/>
          </p:cNvSpPr>
          <p:nvPr/>
        </p:nvSpPr>
        <p:spPr>
          <a:xfrm rot="0">
            <a:off x="1395479" y="5868933"/>
            <a:ext cx="7023649" cy="26288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26" b="0" i="0" u="none" strike="noStrike" kern="1200" cap="none" spc="0" baseline="0">
                <a:solidFill>
                  <a:srgbClr val="525C6C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Legal terminology can be difficult.</a:t>
            </a:r>
            <a:endParaRPr lang="zh-CN" altLang="en-US" sz="1726" b="0" i="0" u="none" strike="noStrike" kern="1200" cap="none" spc="0" baseline="0">
              <a:solidFill>
                <a:srgbClr val="525C6C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</p:txBody>
      </p:sp>
      <p:grpSp>
        <p:nvGrpSpPr>
          <p:cNvPr id="77" name="组合"/>
          <p:cNvGrpSpPr>
            <a:grpSpLocks/>
          </p:cNvGrpSpPr>
          <p:nvPr/>
        </p:nvGrpSpPr>
        <p:grpSpPr>
          <a:xfrm>
            <a:off x="9532926" y="5003102"/>
            <a:ext cx="7838502" cy="2279141"/>
            <a:chOff x="9532926" y="5003102"/>
            <a:chExt cx="7838502" cy="2279141"/>
          </a:xfrm>
        </p:grpSpPr>
        <p:sp>
          <p:nvSpPr>
            <p:cNvPr id="76" name="曲线"/>
            <p:cNvSpPr>
              <a:spLocks/>
            </p:cNvSpPr>
            <p:nvPr/>
          </p:nvSpPr>
          <p:spPr>
            <a:xfrm rot="0">
              <a:off x="9532926" y="5003102"/>
              <a:ext cx="7838502" cy="2279141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599"/>
                  </a:moveTo>
                  <a:cubicBezTo>
                    <a:pt x="0" y="1612"/>
                    <a:pt x="468" y="0"/>
                    <a:pt x="1046" y="0"/>
                  </a:cubicBezTo>
                  <a:lnTo>
                    <a:pt x="20553" y="0"/>
                  </a:lnTo>
                  <a:cubicBezTo>
                    <a:pt x="21131" y="0"/>
                    <a:pt x="21600" y="1612"/>
                    <a:pt x="21600" y="3599"/>
                  </a:cubicBezTo>
                  <a:lnTo>
                    <a:pt x="21600" y="17999"/>
                  </a:lnTo>
                  <a:cubicBezTo>
                    <a:pt x="21600" y="19987"/>
                    <a:pt x="21131" y="21599"/>
                    <a:pt x="20553" y="21599"/>
                  </a:cubicBezTo>
                  <a:lnTo>
                    <a:pt x="1046" y="21599"/>
                  </a:lnTo>
                  <a:cubicBezTo>
                    <a:pt x="468" y="21600"/>
                    <a:pt x="0" y="19987"/>
                    <a:pt x="0" y="17999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id="79" name="组合"/>
          <p:cNvGrpSpPr>
            <a:grpSpLocks/>
          </p:cNvGrpSpPr>
          <p:nvPr/>
        </p:nvGrpSpPr>
        <p:grpSpPr>
          <a:xfrm>
            <a:off x="9540069" y="5010255"/>
            <a:ext cx="109823" cy="2264950"/>
            <a:chOff x="9540069" y="5010255"/>
            <a:chExt cx="109823" cy="2264950"/>
          </a:xfrm>
        </p:grpSpPr>
        <p:sp>
          <p:nvSpPr>
            <p:cNvPr id="78" name="曲线"/>
            <p:cNvSpPr>
              <a:spLocks/>
            </p:cNvSpPr>
            <p:nvPr/>
          </p:nvSpPr>
          <p:spPr>
            <a:xfrm rot="0">
              <a:off x="9540069" y="5010255"/>
              <a:ext cx="109823" cy="2264950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366FC4"/>
            </a:solidFill>
            <a:ln cmpd="sng" cap="flat">
              <a:noFill/>
              <a:prstDash val="solid"/>
              <a:miter/>
            </a:ln>
          </p:spPr>
        </p:sp>
      </p:grpSp>
      <p:sp>
        <p:nvSpPr>
          <p:cNvPr id="80" name="矩形"/>
          <p:cNvSpPr>
            <a:spLocks/>
          </p:cNvSpPr>
          <p:nvPr/>
        </p:nvSpPr>
        <p:spPr>
          <a:xfrm rot="0">
            <a:off x="9974686" y="5218452"/>
            <a:ext cx="7023649" cy="34315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7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5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ERRORS</a:t>
            </a:r>
            <a:endParaRPr lang="zh-CN" altLang="en-US" sz="225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81" name="矩形"/>
          <p:cNvSpPr>
            <a:spLocks/>
          </p:cNvSpPr>
          <p:nvPr/>
        </p:nvSpPr>
        <p:spPr>
          <a:xfrm rot="0">
            <a:off x="9974686" y="5868933"/>
            <a:ext cx="7023649" cy="26288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26" b="0" i="0" u="none" strike="noStrike" kern="1200" cap="none" spc="0" baseline="0">
                <a:solidFill>
                  <a:srgbClr val="525C6C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Missing details or formatting mistakes may occur.</a:t>
            </a:r>
            <a:endParaRPr lang="zh-CN" altLang="en-US" sz="1726" b="0" i="0" u="none" strike="noStrike" kern="1200" cap="none" spc="0" baseline="0">
              <a:solidFill>
                <a:srgbClr val="525C6C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</p:txBody>
      </p:sp>
      <p:grpSp>
        <p:nvGrpSpPr>
          <p:cNvPr id="83" name="组合"/>
          <p:cNvGrpSpPr>
            <a:grpSpLocks/>
          </p:cNvGrpSpPr>
          <p:nvPr/>
        </p:nvGrpSpPr>
        <p:grpSpPr>
          <a:xfrm>
            <a:off x="4659935" y="8022984"/>
            <a:ext cx="8936640" cy="975169"/>
            <a:chOff x="4659935" y="8022984"/>
            <a:chExt cx="8936640" cy="975169"/>
          </a:xfrm>
        </p:grpSpPr>
        <p:sp>
          <p:nvSpPr>
            <p:cNvPr id="82" name="曲线"/>
            <p:cNvSpPr>
              <a:spLocks/>
            </p:cNvSpPr>
            <p:nvPr/>
          </p:nvSpPr>
          <p:spPr>
            <a:xfrm rot="0">
              <a:off x="4659935" y="8022984"/>
              <a:ext cx="8936640" cy="97516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599"/>
                  </a:moveTo>
                  <a:cubicBezTo>
                    <a:pt x="0" y="1611"/>
                    <a:pt x="175" y="0"/>
                    <a:pt x="392" y="0"/>
                  </a:cubicBezTo>
                  <a:lnTo>
                    <a:pt x="21207" y="0"/>
                  </a:lnTo>
                  <a:cubicBezTo>
                    <a:pt x="21424" y="0"/>
                    <a:pt x="21600" y="1611"/>
                    <a:pt x="21600" y="3599"/>
                  </a:cubicBezTo>
                  <a:lnTo>
                    <a:pt x="21600" y="18000"/>
                  </a:lnTo>
                  <a:cubicBezTo>
                    <a:pt x="21600" y="19988"/>
                    <a:pt x="21424" y="21600"/>
                    <a:pt x="21207" y="21600"/>
                  </a:cubicBezTo>
                  <a:lnTo>
                    <a:pt x="392" y="21600"/>
                  </a:lnTo>
                  <a:cubicBezTo>
                    <a:pt x="175" y="21600"/>
                    <a:pt x="0" y="19988"/>
                    <a:pt x="0" y="18000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84" name="矩形"/>
          <p:cNvSpPr>
            <a:spLocks/>
          </p:cNvSpPr>
          <p:nvPr/>
        </p:nvSpPr>
        <p:spPr>
          <a:xfrm rot="0">
            <a:off x="4868342" y="8138046"/>
            <a:ext cx="8519865" cy="3200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10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NEED: A SIMPLE AI-ASSISTED DRAFTING SYSTEM</a:t>
            </a:r>
            <a:endParaRPr lang="zh-CN" altLang="en-US" sz="210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85" name="矩形"/>
          <p:cNvSpPr>
            <a:spLocks/>
          </p:cNvSpPr>
          <p:nvPr/>
        </p:nvSpPr>
        <p:spPr>
          <a:xfrm rot="0">
            <a:off x="16426244" y="9694488"/>
            <a:ext cx="640727" cy="2057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r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51" b="0" i="0" u="none" strike="noStrike" kern="1200" cap="none" spc="0" baseline="0">
                <a:solidFill>
                  <a:srgbClr val="525C6C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3</a:t>
            </a:r>
            <a:endParaRPr lang="zh-CN" altLang="en-US" sz="1351" b="0" i="0" u="none" strike="noStrike" kern="1200" cap="none" spc="0" baseline="0">
              <a:solidFill>
                <a:srgbClr val="525C6C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3073780"/>
      </p:ext>
    </p:extLst>
  </p:cSld>
  <p:clrMapOvr>
    <a:masterClrMapping/>
  </p:clrMapOvr>
</p:sld>
</file>

<file path=ppt/slides/slide5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6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矩形"/>
          <p:cNvSpPr>
            <a:spLocks/>
          </p:cNvSpPr>
          <p:nvPr/>
        </p:nvSpPr>
        <p:spPr>
          <a:xfrm rot="0">
            <a:off x="846410" y="344348"/>
            <a:ext cx="12033904" cy="64046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50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203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3. Proposed Solution</a:t>
            </a:r>
            <a:endParaRPr lang="zh-CN" altLang="en-US" sz="4203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87" name="矩形"/>
          <p:cNvSpPr>
            <a:spLocks/>
          </p:cNvSpPr>
          <p:nvPr/>
        </p:nvSpPr>
        <p:spPr>
          <a:xfrm rot="0">
            <a:off x="887587" y="1188120"/>
            <a:ext cx="13269306" cy="27444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1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1" b="0" i="0" u="none" strike="noStrike" kern="1200" cap="none" spc="0" baseline="0">
                <a:solidFill>
                  <a:srgbClr val="525C6C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LegalEase architecture</a:t>
            </a:r>
            <a:endParaRPr lang="zh-CN" altLang="en-US" sz="1801" b="0" i="0" u="none" strike="noStrike" kern="1200" cap="none" spc="0" baseline="0">
              <a:solidFill>
                <a:srgbClr val="525C6C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</p:txBody>
      </p:sp>
      <p:grpSp>
        <p:nvGrpSpPr>
          <p:cNvPr id="89" name="组合"/>
          <p:cNvGrpSpPr>
            <a:grpSpLocks/>
          </p:cNvGrpSpPr>
          <p:nvPr/>
        </p:nvGrpSpPr>
        <p:grpSpPr>
          <a:xfrm>
            <a:off x="816454" y="3012729"/>
            <a:ext cx="2896932" cy="1386935"/>
            <a:chOff x="816454" y="3012729"/>
            <a:chExt cx="2896932" cy="1386935"/>
          </a:xfrm>
        </p:grpSpPr>
        <p:sp>
          <p:nvSpPr>
            <p:cNvPr id="88" name="曲线"/>
            <p:cNvSpPr>
              <a:spLocks/>
            </p:cNvSpPr>
            <p:nvPr/>
          </p:nvSpPr>
          <p:spPr>
            <a:xfrm rot="0">
              <a:off x="816454" y="3012729"/>
              <a:ext cx="2896932" cy="1386935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600"/>
                  </a:moveTo>
                  <a:cubicBezTo>
                    <a:pt x="0" y="1612"/>
                    <a:pt x="771" y="0"/>
                    <a:pt x="1723" y="0"/>
                  </a:cubicBezTo>
                  <a:lnTo>
                    <a:pt x="19876" y="0"/>
                  </a:lnTo>
                  <a:cubicBezTo>
                    <a:pt x="20828" y="0"/>
                    <a:pt x="21600" y="1612"/>
                    <a:pt x="21600" y="3600"/>
                  </a:cubicBezTo>
                  <a:lnTo>
                    <a:pt x="21600" y="17999"/>
                  </a:lnTo>
                  <a:cubicBezTo>
                    <a:pt x="21600" y="19987"/>
                    <a:pt x="20828" y="21600"/>
                    <a:pt x="19876" y="21600"/>
                  </a:cubicBezTo>
                  <a:lnTo>
                    <a:pt x="1723" y="21600"/>
                  </a:lnTo>
                  <a:cubicBezTo>
                    <a:pt x="771" y="21600"/>
                    <a:pt x="0" y="19989"/>
                    <a:pt x="0" y="17999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90" name="矩形"/>
          <p:cNvSpPr>
            <a:spLocks/>
          </p:cNvSpPr>
          <p:nvPr/>
        </p:nvSpPr>
        <p:spPr>
          <a:xfrm rot="0">
            <a:off x="1024861" y="3137316"/>
            <a:ext cx="2480099" cy="36601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28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USER</a:t>
            </a:r>
            <a:endParaRPr lang="zh-CN" altLang="en-US" sz="240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grpSp>
        <p:nvGrpSpPr>
          <p:cNvPr id="92" name="组合"/>
          <p:cNvGrpSpPr>
            <a:grpSpLocks/>
          </p:cNvGrpSpPr>
          <p:nvPr/>
        </p:nvGrpSpPr>
        <p:grpSpPr>
          <a:xfrm>
            <a:off x="4454033" y="3012729"/>
            <a:ext cx="3171443" cy="1386935"/>
            <a:chOff x="4454033" y="3012729"/>
            <a:chExt cx="3171443" cy="1386935"/>
          </a:xfrm>
        </p:grpSpPr>
        <p:sp>
          <p:nvSpPr>
            <p:cNvPr id="91" name="曲线"/>
            <p:cNvSpPr>
              <a:spLocks/>
            </p:cNvSpPr>
            <p:nvPr/>
          </p:nvSpPr>
          <p:spPr>
            <a:xfrm rot="0">
              <a:off x="4454033" y="3012729"/>
              <a:ext cx="3171443" cy="1386935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600"/>
                  </a:moveTo>
                  <a:cubicBezTo>
                    <a:pt x="0" y="1612"/>
                    <a:pt x="705" y="0"/>
                    <a:pt x="1574" y="0"/>
                  </a:cubicBezTo>
                  <a:lnTo>
                    <a:pt x="20025" y="0"/>
                  </a:lnTo>
                  <a:cubicBezTo>
                    <a:pt x="20894" y="0"/>
                    <a:pt x="21600" y="1612"/>
                    <a:pt x="21600" y="3600"/>
                  </a:cubicBezTo>
                  <a:lnTo>
                    <a:pt x="21600" y="17999"/>
                  </a:lnTo>
                  <a:cubicBezTo>
                    <a:pt x="21600" y="19987"/>
                    <a:pt x="20894" y="21600"/>
                    <a:pt x="20025" y="21600"/>
                  </a:cubicBezTo>
                  <a:lnTo>
                    <a:pt x="1574" y="21600"/>
                  </a:lnTo>
                  <a:cubicBezTo>
                    <a:pt x="705" y="21600"/>
                    <a:pt x="0" y="19989"/>
                    <a:pt x="0" y="17999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93" name="矩形"/>
          <p:cNvSpPr>
            <a:spLocks/>
          </p:cNvSpPr>
          <p:nvPr/>
        </p:nvSpPr>
        <p:spPr>
          <a:xfrm rot="0">
            <a:off x="4662440" y="3118266"/>
            <a:ext cx="2754639" cy="34315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27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5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INPUT FORM</a:t>
            </a:r>
            <a:endParaRPr lang="zh-CN" altLang="en-US" sz="225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grpSp>
        <p:nvGrpSpPr>
          <p:cNvPr id="95" name="组合"/>
          <p:cNvGrpSpPr>
            <a:grpSpLocks/>
          </p:cNvGrpSpPr>
          <p:nvPr/>
        </p:nvGrpSpPr>
        <p:grpSpPr>
          <a:xfrm>
            <a:off x="8434788" y="3012729"/>
            <a:ext cx="3171444" cy="1386935"/>
            <a:chOff x="8434788" y="3012729"/>
            <a:chExt cx="3171444" cy="1386935"/>
          </a:xfrm>
        </p:grpSpPr>
        <p:sp>
          <p:nvSpPr>
            <p:cNvPr id="94" name="曲线"/>
            <p:cNvSpPr>
              <a:spLocks/>
            </p:cNvSpPr>
            <p:nvPr/>
          </p:nvSpPr>
          <p:spPr>
            <a:xfrm rot="0">
              <a:off x="8434788" y="3012729"/>
              <a:ext cx="3171444" cy="1386935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600"/>
                  </a:moveTo>
                  <a:cubicBezTo>
                    <a:pt x="0" y="1612"/>
                    <a:pt x="705" y="0"/>
                    <a:pt x="1574" y="0"/>
                  </a:cubicBezTo>
                  <a:lnTo>
                    <a:pt x="20025" y="0"/>
                  </a:lnTo>
                  <a:cubicBezTo>
                    <a:pt x="20894" y="0"/>
                    <a:pt x="21600" y="1612"/>
                    <a:pt x="21600" y="3600"/>
                  </a:cubicBezTo>
                  <a:lnTo>
                    <a:pt x="21600" y="17999"/>
                  </a:lnTo>
                  <a:cubicBezTo>
                    <a:pt x="21600" y="19987"/>
                    <a:pt x="20894" y="21600"/>
                    <a:pt x="20025" y="21600"/>
                  </a:cubicBezTo>
                  <a:lnTo>
                    <a:pt x="1574" y="21600"/>
                  </a:lnTo>
                  <a:cubicBezTo>
                    <a:pt x="705" y="21600"/>
                    <a:pt x="0" y="19989"/>
                    <a:pt x="0" y="17999"/>
                  </a:cubicBezTo>
                  <a:close/>
                </a:path>
              </a:pathLst>
            </a:custGeom>
            <a:solidFill>
              <a:srgbClr val="E8F6F4"/>
            </a:solidFill>
            <a:ln w="14299" cmpd="sng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96" name="矩形"/>
          <p:cNvSpPr>
            <a:spLocks/>
          </p:cNvSpPr>
          <p:nvPr/>
        </p:nvSpPr>
        <p:spPr>
          <a:xfrm rot="0">
            <a:off x="8643185" y="3137316"/>
            <a:ext cx="2754640" cy="36601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28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AI / NLP</a:t>
            </a:r>
            <a:endParaRPr lang="zh-CN" altLang="en-US" sz="240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grpSp>
        <p:nvGrpSpPr>
          <p:cNvPr id="98" name="组合"/>
          <p:cNvGrpSpPr>
            <a:grpSpLocks/>
          </p:cNvGrpSpPr>
          <p:nvPr/>
        </p:nvGrpSpPr>
        <p:grpSpPr>
          <a:xfrm>
            <a:off x="12415534" y="3012729"/>
            <a:ext cx="3857815" cy="1386935"/>
            <a:chOff x="12415534" y="3012729"/>
            <a:chExt cx="3857815" cy="1386935"/>
          </a:xfrm>
        </p:grpSpPr>
        <p:sp>
          <p:nvSpPr>
            <p:cNvPr id="97" name="曲线"/>
            <p:cNvSpPr>
              <a:spLocks/>
            </p:cNvSpPr>
            <p:nvPr/>
          </p:nvSpPr>
          <p:spPr>
            <a:xfrm rot="0">
              <a:off x="12415534" y="3012729"/>
              <a:ext cx="3857815" cy="1386935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600"/>
                  </a:moveTo>
                  <a:cubicBezTo>
                    <a:pt x="0" y="1612"/>
                    <a:pt x="579" y="0"/>
                    <a:pt x="1294" y="0"/>
                  </a:cubicBezTo>
                  <a:lnTo>
                    <a:pt x="20305" y="0"/>
                  </a:lnTo>
                  <a:cubicBezTo>
                    <a:pt x="21020" y="0"/>
                    <a:pt x="21600" y="1612"/>
                    <a:pt x="21600" y="3600"/>
                  </a:cubicBezTo>
                  <a:lnTo>
                    <a:pt x="21600" y="17999"/>
                  </a:lnTo>
                  <a:cubicBezTo>
                    <a:pt x="21600" y="19987"/>
                    <a:pt x="21020" y="21600"/>
                    <a:pt x="20305" y="21600"/>
                  </a:cubicBezTo>
                  <a:lnTo>
                    <a:pt x="1294" y="21600"/>
                  </a:lnTo>
                  <a:cubicBezTo>
                    <a:pt x="579" y="21600"/>
                    <a:pt x="0" y="19989"/>
                    <a:pt x="0" y="17999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99" name="矩形"/>
          <p:cNvSpPr>
            <a:spLocks/>
          </p:cNvSpPr>
          <p:nvPr/>
        </p:nvSpPr>
        <p:spPr>
          <a:xfrm rot="0">
            <a:off x="12623940" y="3118266"/>
            <a:ext cx="3440972" cy="68630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27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5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DOCUMENT</a:t>
            </a:r>
            <a:endParaRPr lang="en-US" altLang="zh-CN" sz="225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  <a:p>
            <a:pPr marL="0" indent="0" algn="ctr">
              <a:lnSpc>
                <a:spcPts val="27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5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GENERATOR</a:t>
            </a:r>
            <a:endParaRPr lang="zh-CN" altLang="en-US" sz="225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100" name="直线"/>
          <p:cNvSpPr>
            <a:spLocks/>
          </p:cNvSpPr>
          <p:nvPr/>
        </p:nvSpPr>
        <p:spPr>
          <a:xfrm rot="165120">
            <a:off x="3686688" y="3696691"/>
            <a:ext cx="794014" cy="0"/>
          </a:xfrm>
          <a:prstGeom prst="line"/>
          <a:noFill/>
          <a:ln w="19050" cmpd="sng" cap="rnd">
            <a:solidFill>
              <a:srgbClr val="366FC4"/>
            </a:solidFill>
            <a:prstDash val="solid"/>
            <a:round/>
          </a:ln>
        </p:spPr>
      </p:sp>
      <p:sp>
        <p:nvSpPr>
          <p:cNvPr id="101" name="直线"/>
          <p:cNvSpPr>
            <a:spLocks/>
          </p:cNvSpPr>
          <p:nvPr/>
        </p:nvSpPr>
        <p:spPr>
          <a:xfrm rot="152040">
            <a:off x="7598845" y="3696691"/>
            <a:ext cx="862573" cy="0"/>
          </a:xfrm>
          <a:prstGeom prst="line"/>
          <a:noFill/>
          <a:ln w="19050" cmpd="sng" cap="rnd">
            <a:solidFill>
              <a:srgbClr val="366FC4"/>
            </a:solidFill>
            <a:prstDash val="solid"/>
            <a:round/>
          </a:ln>
        </p:spPr>
      </p:sp>
      <p:sp>
        <p:nvSpPr>
          <p:cNvPr id="102" name="直线"/>
          <p:cNvSpPr>
            <a:spLocks/>
          </p:cNvSpPr>
          <p:nvPr/>
        </p:nvSpPr>
        <p:spPr>
          <a:xfrm rot="152040">
            <a:off x="11579590" y="3696691"/>
            <a:ext cx="862573" cy="0"/>
          </a:xfrm>
          <a:prstGeom prst="line"/>
          <a:noFill/>
          <a:ln w="19050" cmpd="sng" cap="rnd">
            <a:solidFill>
              <a:srgbClr val="366FC4"/>
            </a:solidFill>
            <a:prstDash val="solid"/>
            <a:round/>
          </a:ln>
        </p:spPr>
      </p:sp>
      <p:grpSp>
        <p:nvGrpSpPr>
          <p:cNvPr id="104" name="组合"/>
          <p:cNvGrpSpPr>
            <a:grpSpLocks/>
          </p:cNvGrpSpPr>
          <p:nvPr/>
        </p:nvGrpSpPr>
        <p:grpSpPr>
          <a:xfrm>
            <a:off x="5620806" y="5963974"/>
            <a:ext cx="7152227" cy="1386935"/>
            <a:chOff x="5620806" y="5963974"/>
            <a:chExt cx="7152227" cy="1386935"/>
          </a:xfrm>
        </p:grpSpPr>
        <p:sp>
          <p:nvSpPr>
            <p:cNvPr id="103" name="曲线"/>
            <p:cNvSpPr>
              <a:spLocks/>
            </p:cNvSpPr>
            <p:nvPr/>
          </p:nvSpPr>
          <p:spPr>
            <a:xfrm rot="0">
              <a:off x="5620806" y="5963974"/>
              <a:ext cx="7152227" cy="1386935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600"/>
                  </a:moveTo>
                  <a:cubicBezTo>
                    <a:pt x="0" y="1612"/>
                    <a:pt x="312" y="0"/>
                    <a:pt x="698" y="0"/>
                  </a:cubicBezTo>
                  <a:lnTo>
                    <a:pt x="20901" y="0"/>
                  </a:lnTo>
                  <a:cubicBezTo>
                    <a:pt x="21287" y="0"/>
                    <a:pt x="21600" y="1612"/>
                    <a:pt x="21600" y="3600"/>
                  </a:cubicBezTo>
                  <a:lnTo>
                    <a:pt x="21600" y="17999"/>
                  </a:lnTo>
                  <a:cubicBezTo>
                    <a:pt x="21600" y="19987"/>
                    <a:pt x="21287" y="21600"/>
                    <a:pt x="20901" y="21600"/>
                  </a:cubicBezTo>
                  <a:lnTo>
                    <a:pt x="698" y="21600"/>
                  </a:lnTo>
                  <a:cubicBezTo>
                    <a:pt x="312" y="21600"/>
                    <a:pt x="0" y="19989"/>
                    <a:pt x="0" y="17999"/>
                  </a:cubicBezTo>
                  <a:close/>
                </a:path>
              </a:pathLst>
            </a:custGeom>
            <a:solidFill>
              <a:srgbClr val="EEF4FC"/>
            </a:solidFill>
            <a:ln w="14299" cmpd="sng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105" name="矩形"/>
          <p:cNvSpPr>
            <a:spLocks/>
          </p:cNvSpPr>
          <p:nvPr/>
        </p:nvSpPr>
        <p:spPr>
          <a:xfrm rot="0">
            <a:off x="5829205" y="6069511"/>
            <a:ext cx="6735385" cy="34315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27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5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REVIEW → EDIT → EXPORT</a:t>
            </a:r>
            <a:endParaRPr lang="zh-CN" altLang="en-US" sz="225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106" name="直线"/>
          <p:cNvSpPr>
            <a:spLocks/>
          </p:cNvSpPr>
          <p:nvPr/>
        </p:nvSpPr>
        <p:spPr>
          <a:xfrm rot="9274620">
            <a:off x="10779966" y="5172313"/>
            <a:ext cx="3765861" cy="0"/>
          </a:xfrm>
          <a:prstGeom prst="line"/>
          <a:noFill/>
          <a:ln w="19050" cmpd="sng" cap="rnd">
            <a:solidFill>
              <a:srgbClr val="366FC4"/>
            </a:solidFill>
            <a:prstDash val="solid"/>
            <a:round/>
          </a:ln>
        </p:spPr>
      </p:sp>
      <p:grpSp>
        <p:nvGrpSpPr>
          <p:cNvPr id="108" name="组合"/>
          <p:cNvGrpSpPr>
            <a:grpSpLocks/>
          </p:cNvGrpSpPr>
          <p:nvPr/>
        </p:nvGrpSpPr>
        <p:grpSpPr>
          <a:xfrm>
            <a:off x="1640061" y="7817081"/>
            <a:ext cx="15113698" cy="1386935"/>
            <a:chOff x="1640061" y="7817081"/>
            <a:chExt cx="15113698" cy="1386935"/>
          </a:xfrm>
        </p:grpSpPr>
        <p:sp>
          <p:nvSpPr>
            <p:cNvPr id="107" name="曲线"/>
            <p:cNvSpPr>
              <a:spLocks/>
            </p:cNvSpPr>
            <p:nvPr/>
          </p:nvSpPr>
          <p:spPr>
            <a:xfrm rot="0">
              <a:off x="1640061" y="7817081"/>
              <a:ext cx="15113698" cy="1386935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600"/>
                  </a:moveTo>
                  <a:cubicBezTo>
                    <a:pt x="0" y="1612"/>
                    <a:pt x="147" y="0"/>
                    <a:pt x="330" y="0"/>
                  </a:cubicBezTo>
                  <a:lnTo>
                    <a:pt x="21269" y="0"/>
                  </a:lnTo>
                  <a:cubicBezTo>
                    <a:pt x="21452" y="0"/>
                    <a:pt x="21600" y="1612"/>
                    <a:pt x="21600" y="3600"/>
                  </a:cubicBezTo>
                  <a:lnTo>
                    <a:pt x="21600" y="17999"/>
                  </a:lnTo>
                  <a:cubicBezTo>
                    <a:pt x="21600" y="19987"/>
                    <a:pt x="21452" y="21600"/>
                    <a:pt x="21269" y="21600"/>
                  </a:cubicBezTo>
                  <a:lnTo>
                    <a:pt x="330" y="21600"/>
                  </a:lnTo>
                  <a:cubicBezTo>
                    <a:pt x="147" y="21600"/>
                    <a:pt x="0" y="19989"/>
                    <a:pt x="0" y="17999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id="110" name="组合"/>
          <p:cNvGrpSpPr>
            <a:grpSpLocks/>
          </p:cNvGrpSpPr>
          <p:nvPr/>
        </p:nvGrpSpPr>
        <p:grpSpPr>
          <a:xfrm>
            <a:off x="1647206" y="7824235"/>
            <a:ext cx="109823" cy="1372647"/>
            <a:chOff x="1647206" y="7824235"/>
            <a:chExt cx="109823" cy="1372647"/>
          </a:xfrm>
        </p:grpSpPr>
        <p:sp>
          <p:nvSpPr>
            <p:cNvPr id="109" name="曲线"/>
            <p:cNvSpPr>
              <a:spLocks/>
            </p:cNvSpPr>
            <p:nvPr/>
          </p:nvSpPr>
          <p:spPr>
            <a:xfrm rot="0">
              <a:off x="1647206" y="7824235"/>
              <a:ext cx="109823" cy="1372647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366FC4"/>
            </a:solidFill>
            <a:ln cmpd="sng" cap="flat">
              <a:noFill/>
              <a:prstDash val="solid"/>
              <a:miter/>
            </a:ln>
          </p:spPr>
        </p:sp>
      </p:grpSp>
      <p:sp>
        <p:nvSpPr>
          <p:cNvPr id="111" name="矩形"/>
          <p:cNvSpPr>
            <a:spLocks/>
          </p:cNvSpPr>
          <p:nvPr/>
        </p:nvSpPr>
        <p:spPr>
          <a:xfrm rot="0">
            <a:off x="2081813" y="8032431"/>
            <a:ext cx="14298816" cy="34315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7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5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Core concept</a:t>
            </a:r>
            <a:endParaRPr lang="zh-CN" altLang="en-US" sz="225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112" name="矩形"/>
          <p:cNvSpPr>
            <a:spLocks/>
          </p:cNvSpPr>
          <p:nvPr/>
        </p:nvSpPr>
        <p:spPr>
          <a:xfrm rot="0">
            <a:off x="2081813" y="8682914"/>
            <a:ext cx="14298816" cy="26288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26" b="0" i="0" u="none" strike="noStrike" kern="1200" cap="none" spc="0" baseline="0">
                <a:solidFill>
                  <a:srgbClr val="525C6C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The system assists with drafting; users should review generated content and seek qualified legal advice when appropriate.</a:t>
            </a:r>
            <a:endParaRPr lang="zh-CN" altLang="en-US" sz="1726" b="0" i="0" u="none" strike="noStrike" kern="1200" cap="none" spc="0" baseline="0">
              <a:solidFill>
                <a:srgbClr val="525C6C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</p:txBody>
      </p:sp>
      <p:sp>
        <p:nvSpPr>
          <p:cNvPr id="113" name="矩形"/>
          <p:cNvSpPr>
            <a:spLocks/>
          </p:cNvSpPr>
          <p:nvPr/>
        </p:nvSpPr>
        <p:spPr>
          <a:xfrm rot="0">
            <a:off x="16426244" y="9694488"/>
            <a:ext cx="640727" cy="2057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r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51" b="0" i="0" u="none" strike="noStrike" kern="1200" cap="none" spc="0" baseline="0">
                <a:solidFill>
                  <a:srgbClr val="525C6C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4</a:t>
            </a:r>
            <a:endParaRPr lang="zh-CN" altLang="en-US" sz="1351" b="0" i="0" u="none" strike="noStrike" kern="1200" cap="none" spc="0" baseline="0">
              <a:solidFill>
                <a:srgbClr val="525C6C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261986"/>
      </p:ext>
    </p:extLst>
  </p:cSld>
  <p:clrMapOvr>
    <a:masterClrMapping/>
  </p:clrMapOvr>
</p:sld>
</file>

<file path=ppt/slides/slide6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6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矩形"/>
          <p:cNvSpPr>
            <a:spLocks/>
          </p:cNvSpPr>
          <p:nvPr/>
        </p:nvSpPr>
        <p:spPr>
          <a:xfrm rot="0">
            <a:off x="846410" y="344348"/>
            <a:ext cx="12033904" cy="64046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50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203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4. Working Process</a:t>
            </a:r>
            <a:endParaRPr lang="zh-CN" altLang="en-US" sz="4203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115" name="矩形"/>
          <p:cNvSpPr>
            <a:spLocks/>
          </p:cNvSpPr>
          <p:nvPr/>
        </p:nvSpPr>
        <p:spPr>
          <a:xfrm rot="0">
            <a:off x="887587" y="1188120"/>
            <a:ext cx="13269306" cy="27444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1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1" b="0" i="0" u="none" strike="noStrike" kern="1200" cap="none" spc="0" baseline="0">
                <a:solidFill>
                  <a:srgbClr val="525C6C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From user information to a document draft</a:t>
            </a:r>
            <a:endParaRPr lang="zh-CN" altLang="en-US" sz="1801" b="0" i="0" u="none" strike="noStrike" kern="1200" cap="none" spc="0" baseline="0">
              <a:solidFill>
                <a:srgbClr val="525C6C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</p:txBody>
      </p:sp>
      <p:grpSp>
        <p:nvGrpSpPr>
          <p:cNvPr id="117" name="组合"/>
          <p:cNvGrpSpPr>
            <a:grpSpLocks/>
          </p:cNvGrpSpPr>
          <p:nvPr/>
        </p:nvGrpSpPr>
        <p:grpSpPr>
          <a:xfrm>
            <a:off x="610551" y="3218631"/>
            <a:ext cx="2759583" cy="1592865"/>
            <a:chOff x="610551" y="3218631"/>
            <a:chExt cx="2759583" cy="1592865"/>
          </a:xfrm>
        </p:grpSpPr>
        <p:sp>
          <p:nvSpPr>
            <p:cNvPr id="116" name="曲线"/>
            <p:cNvSpPr>
              <a:spLocks/>
            </p:cNvSpPr>
            <p:nvPr/>
          </p:nvSpPr>
          <p:spPr>
            <a:xfrm rot="0">
              <a:off x="610551" y="3218631"/>
              <a:ext cx="2759583" cy="1592865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599"/>
                  </a:moveTo>
                  <a:cubicBezTo>
                    <a:pt x="0" y="1611"/>
                    <a:pt x="930" y="0"/>
                    <a:pt x="2077" y="0"/>
                  </a:cubicBezTo>
                  <a:lnTo>
                    <a:pt x="19522" y="0"/>
                  </a:lnTo>
                  <a:cubicBezTo>
                    <a:pt x="20669" y="0"/>
                    <a:pt x="21600" y="1611"/>
                    <a:pt x="21600" y="3599"/>
                  </a:cubicBezTo>
                  <a:lnTo>
                    <a:pt x="21600" y="18000"/>
                  </a:lnTo>
                  <a:cubicBezTo>
                    <a:pt x="21600" y="19988"/>
                    <a:pt x="20669" y="21600"/>
                    <a:pt x="19522" y="21600"/>
                  </a:cubicBezTo>
                  <a:lnTo>
                    <a:pt x="2077" y="21600"/>
                  </a:lnTo>
                  <a:cubicBezTo>
                    <a:pt x="930" y="21600"/>
                    <a:pt x="0" y="19988"/>
                    <a:pt x="0" y="18000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118" name="矩形"/>
          <p:cNvSpPr>
            <a:spLocks/>
          </p:cNvSpPr>
          <p:nvPr/>
        </p:nvSpPr>
        <p:spPr>
          <a:xfrm rot="0">
            <a:off x="818959" y="3333692"/>
            <a:ext cx="2342836" cy="59461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23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95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1</a:t>
            </a:r>
            <a:endParaRPr lang="en-US" altLang="zh-CN" sz="195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  <a:p>
            <a:pPr marL="0" indent="0" algn="ctr">
              <a:lnSpc>
                <a:spcPts val="23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95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Enter details</a:t>
            </a:r>
            <a:endParaRPr lang="zh-CN" altLang="en-US" sz="195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119" name="直线"/>
          <p:cNvSpPr>
            <a:spLocks/>
          </p:cNvSpPr>
          <p:nvPr/>
        </p:nvSpPr>
        <p:spPr>
          <a:xfrm rot="165120">
            <a:off x="3343523" y="3998681"/>
            <a:ext cx="794013" cy="0"/>
          </a:xfrm>
          <a:prstGeom prst="line"/>
          <a:noFill/>
          <a:ln w="19050" cmpd="sng" cap="rnd">
            <a:solidFill>
              <a:srgbClr val="366FC4"/>
            </a:solidFill>
            <a:prstDash val="solid"/>
            <a:round/>
          </a:ln>
        </p:spPr>
      </p:sp>
      <p:grpSp>
        <p:nvGrpSpPr>
          <p:cNvPr id="121" name="组合"/>
          <p:cNvGrpSpPr>
            <a:grpSpLocks/>
          </p:cNvGrpSpPr>
          <p:nvPr/>
        </p:nvGrpSpPr>
        <p:grpSpPr>
          <a:xfrm>
            <a:off x="4110866" y="3218631"/>
            <a:ext cx="2759583" cy="1592865"/>
            <a:chOff x="4110866" y="3218631"/>
            <a:chExt cx="2759583" cy="1592865"/>
          </a:xfrm>
        </p:grpSpPr>
        <p:sp>
          <p:nvSpPr>
            <p:cNvPr id="120" name="曲线"/>
            <p:cNvSpPr>
              <a:spLocks/>
            </p:cNvSpPr>
            <p:nvPr/>
          </p:nvSpPr>
          <p:spPr>
            <a:xfrm rot="0">
              <a:off x="4110866" y="3218631"/>
              <a:ext cx="2759583" cy="1592865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599"/>
                  </a:moveTo>
                  <a:cubicBezTo>
                    <a:pt x="0" y="1611"/>
                    <a:pt x="930" y="0"/>
                    <a:pt x="2077" y="0"/>
                  </a:cubicBezTo>
                  <a:lnTo>
                    <a:pt x="19522" y="0"/>
                  </a:lnTo>
                  <a:cubicBezTo>
                    <a:pt x="20669" y="0"/>
                    <a:pt x="21600" y="1611"/>
                    <a:pt x="21600" y="3599"/>
                  </a:cubicBezTo>
                  <a:lnTo>
                    <a:pt x="21600" y="18000"/>
                  </a:lnTo>
                  <a:cubicBezTo>
                    <a:pt x="21600" y="19988"/>
                    <a:pt x="20669" y="21600"/>
                    <a:pt x="19522" y="21600"/>
                  </a:cubicBezTo>
                  <a:lnTo>
                    <a:pt x="2077" y="21600"/>
                  </a:lnTo>
                  <a:cubicBezTo>
                    <a:pt x="930" y="21600"/>
                    <a:pt x="0" y="19988"/>
                    <a:pt x="0" y="18000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122" name="矩形"/>
          <p:cNvSpPr>
            <a:spLocks/>
          </p:cNvSpPr>
          <p:nvPr/>
        </p:nvSpPr>
        <p:spPr>
          <a:xfrm rot="0">
            <a:off x="4319273" y="3333692"/>
            <a:ext cx="2342836" cy="59461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23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95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2</a:t>
            </a:r>
            <a:endParaRPr lang="en-US" altLang="zh-CN" sz="195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  <a:p>
            <a:pPr marL="0" indent="0" algn="ctr">
              <a:lnSpc>
                <a:spcPts val="23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95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Analyze input</a:t>
            </a:r>
            <a:endParaRPr lang="zh-CN" altLang="en-US" sz="195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123" name="直线"/>
          <p:cNvSpPr>
            <a:spLocks/>
          </p:cNvSpPr>
          <p:nvPr/>
        </p:nvSpPr>
        <p:spPr>
          <a:xfrm rot="165120">
            <a:off x="6843836" y="3998681"/>
            <a:ext cx="794013" cy="0"/>
          </a:xfrm>
          <a:prstGeom prst="line"/>
          <a:noFill/>
          <a:ln w="19050" cmpd="sng" cap="rnd">
            <a:solidFill>
              <a:srgbClr val="366FC4"/>
            </a:solidFill>
            <a:prstDash val="solid"/>
            <a:round/>
          </a:ln>
        </p:spPr>
      </p:sp>
      <p:grpSp>
        <p:nvGrpSpPr>
          <p:cNvPr id="125" name="组合"/>
          <p:cNvGrpSpPr>
            <a:grpSpLocks/>
          </p:cNvGrpSpPr>
          <p:nvPr/>
        </p:nvGrpSpPr>
        <p:grpSpPr>
          <a:xfrm>
            <a:off x="7611180" y="3218631"/>
            <a:ext cx="2759583" cy="1592865"/>
            <a:chOff x="7611180" y="3218631"/>
            <a:chExt cx="2759583" cy="1592865"/>
          </a:xfrm>
        </p:grpSpPr>
        <p:sp>
          <p:nvSpPr>
            <p:cNvPr id="124" name="曲线"/>
            <p:cNvSpPr>
              <a:spLocks/>
            </p:cNvSpPr>
            <p:nvPr/>
          </p:nvSpPr>
          <p:spPr>
            <a:xfrm rot="0">
              <a:off x="7611180" y="3218631"/>
              <a:ext cx="2759583" cy="1592865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599"/>
                  </a:moveTo>
                  <a:cubicBezTo>
                    <a:pt x="0" y="1611"/>
                    <a:pt x="930" y="0"/>
                    <a:pt x="2077" y="0"/>
                  </a:cubicBezTo>
                  <a:lnTo>
                    <a:pt x="19522" y="0"/>
                  </a:lnTo>
                  <a:cubicBezTo>
                    <a:pt x="20669" y="0"/>
                    <a:pt x="21600" y="1611"/>
                    <a:pt x="21600" y="3599"/>
                  </a:cubicBezTo>
                  <a:lnTo>
                    <a:pt x="21600" y="18000"/>
                  </a:lnTo>
                  <a:cubicBezTo>
                    <a:pt x="21600" y="19988"/>
                    <a:pt x="20669" y="21600"/>
                    <a:pt x="19522" y="21600"/>
                  </a:cubicBezTo>
                  <a:lnTo>
                    <a:pt x="2077" y="21600"/>
                  </a:lnTo>
                  <a:cubicBezTo>
                    <a:pt x="930" y="21600"/>
                    <a:pt x="0" y="19988"/>
                    <a:pt x="0" y="18000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126" name="矩形"/>
          <p:cNvSpPr>
            <a:spLocks/>
          </p:cNvSpPr>
          <p:nvPr/>
        </p:nvSpPr>
        <p:spPr>
          <a:xfrm rot="0">
            <a:off x="7819587" y="3333692"/>
            <a:ext cx="2342836" cy="59461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23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95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3</a:t>
            </a:r>
            <a:endParaRPr lang="en-US" altLang="zh-CN" sz="195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  <a:p>
            <a:pPr marL="0" indent="0" algn="ctr">
              <a:lnSpc>
                <a:spcPts val="23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95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Select structure</a:t>
            </a:r>
            <a:endParaRPr lang="zh-CN" altLang="en-US" sz="195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127" name="直线"/>
          <p:cNvSpPr>
            <a:spLocks/>
          </p:cNvSpPr>
          <p:nvPr/>
        </p:nvSpPr>
        <p:spPr>
          <a:xfrm rot="165120">
            <a:off x="10344149" y="3998681"/>
            <a:ext cx="794013" cy="0"/>
          </a:xfrm>
          <a:prstGeom prst="line"/>
          <a:noFill/>
          <a:ln w="19050" cmpd="sng" cap="rnd">
            <a:solidFill>
              <a:srgbClr val="366FC4"/>
            </a:solidFill>
            <a:prstDash val="solid"/>
            <a:round/>
          </a:ln>
        </p:spPr>
      </p:sp>
      <p:grpSp>
        <p:nvGrpSpPr>
          <p:cNvPr id="129" name="组合"/>
          <p:cNvGrpSpPr>
            <a:grpSpLocks/>
          </p:cNvGrpSpPr>
          <p:nvPr/>
        </p:nvGrpSpPr>
        <p:grpSpPr>
          <a:xfrm>
            <a:off x="11111494" y="3218631"/>
            <a:ext cx="2759584" cy="1592865"/>
            <a:chOff x="11111494" y="3218631"/>
            <a:chExt cx="2759584" cy="1592865"/>
          </a:xfrm>
        </p:grpSpPr>
        <p:sp>
          <p:nvSpPr>
            <p:cNvPr id="128" name="曲线"/>
            <p:cNvSpPr>
              <a:spLocks/>
            </p:cNvSpPr>
            <p:nvPr/>
          </p:nvSpPr>
          <p:spPr>
            <a:xfrm rot="0">
              <a:off x="11111494" y="3218631"/>
              <a:ext cx="2759584" cy="1592865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599"/>
                  </a:moveTo>
                  <a:cubicBezTo>
                    <a:pt x="0" y="1611"/>
                    <a:pt x="930" y="0"/>
                    <a:pt x="2077" y="0"/>
                  </a:cubicBezTo>
                  <a:lnTo>
                    <a:pt x="19522" y="0"/>
                  </a:lnTo>
                  <a:cubicBezTo>
                    <a:pt x="20669" y="0"/>
                    <a:pt x="21600" y="1611"/>
                    <a:pt x="21600" y="3599"/>
                  </a:cubicBezTo>
                  <a:lnTo>
                    <a:pt x="21600" y="18000"/>
                  </a:lnTo>
                  <a:cubicBezTo>
                    <a:pt x="21600" y="19988"/>
                    <a:pt x="20669" y="21600"/>
                    <a:pt x="19522" y="21600"/>
                  </a:cubicBezTo>
                  <a:lnTo>
                    <a:pt x="2077" y="21600"/>
                  </a:lnTo>
                  <a:cubicBezTo>
                    <a:pt x="930" y="21600"/>
                    <a:pt x="0" y="19988"/>
                    <a:pt x="0" y="18000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130" name="矩形"/>
          <p:cNvSpPr>
            <a:spLocks/>
          </p:cNvSpPr>
          <p:nvPr/>
        </p:nvSpPr>
        <p:spPr>
          <a:xfrm rot="0">
            <a:off x="11319901" y="3333692"/>
            <a:ext cx="2342836" cy="59461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23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95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4</a:t>
            </a:r>
            <a:endParaRPr lang="en-US" altLang="zh-CN" sz="195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  <a:p>
            <a:pPr marL="0" indent="0" algn="ctr">
              <a:lnSpc>
                <a:spcPts val="23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95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Generate draft</a:t>
            </a:r>
            <a:endParaRPr lang="zh-CN" altLang="en-US" sz="195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131" name="直线"/>
          <p:cNvSpPr>
            <a:spLocks/>
          </p:cNvSpPr>
          <p:nvPr/>
        </p:nvSpPr>
        <p:spPr>
          <a:xfrm rot="165120">
            <a:off x="13844464" y="3998681"/>
            <a:ext cx="794013" cy="0"/>
          </a:xfrm>
          <a:prstGeom prst="line"/>
          <a:noFill/>
          <a:ln w="19050" cmpd="sng" cap="rnd">
            <a:solidFill>
              <a:srgbClr val="366FC4"/>
            </a:solidFill>
            <a:prstDash val="solid"/>
            <a:round/>
          </a:ln>
        </p:spPr>
      </p:sp>
      <p:grpSp>
        <p:nvGrpSpPr>
          <p:cNvPr id="133" name="组合"/>
          <p:cNvGrpSpPr>
            <a:grpSpLocks/>
          </p:cNvGrpSpPr>
          <p:nvPr/>
        </p:nvGrpSpPr>
        <p:grpSpPr>
          <a:xfrm>
            <a:off x="14611807" y="3218631"/>
            <a:ext cx="2759583" cy="1592865"/>
            <a:chOff x="14611807" y="3218631"/>
            <a:chExt cx="2759583" cy="1592865"/>
          </a:xfrm>
        </p:grpSpPr>
        <p:sp>
          <p:nvSpPr>
            <p:cNvPr id="132" name="曲线"/>
            <p:cNvSpPr>
              <a:spLocks/>
            </p:cNvSpPr>
            <p:nvPr/>
          </p:nvSpPr>
          <p:spPr>
            <a:xfrm rot="0">
              <a:off x="14611807" y="3218631"/>
              <a:ext cx="2759583" cy="1592865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599"/>
                  </a:moveTo>
                  <a:cubicBezTo>
                    <a:pt x="0" y="1611"/>
                    <a:pt x="930" y="0"/>
                    <a:pt x="2077" y="0"/>
                  </a:cubicBezTo>
                  <a:lnTo>
                    <a:pt x="19522" y="0"/>
                  </a:lnTo>
                  <a:cubicBezTo>
                    <a:pt x="20669" y="0"/>
                    <a:pt x="21600" y="1611"/>
                    <a:pt x="21600" y="3599"/>
                  </a:cubicBezTo>
                  <a:lnTo>
                    <a:pt x="21600" y="18000"/>
                  </a:lnTo>
                  <a:cubicBezTo>
                    <a:pt x="21600" y="19988"/>
                    <a:pt x="20669" y="21600"/>
                    <a:pt x="19522" y="21600"/>
                  </a:cubicBezTo>
                  <a:lnTo>
                    <a:pt x="2077" y="21600"/>
                  </a:lnTo>
                  <a:cubicBezTo>
                    <a:pt x="930" y="21600"/>
                    <a:pt x="0" y="19988"/>
                    <a:pt x="0" y="18000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134" name="矩形"/>
          <p:cNvSpPr>
            <a:spLocks/>
          </p:cNvSpPr>
          <p:nvPr/>
        </p:nvSpPr>
        <p:spPr>
          <a:xfrm rot="0">
            <a:off x="14820214" y="3333692"/>
            <a:ext cx="2342836" cy="59461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23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95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5</a:t>
            </a:r>
            <a:endParaRPr lang="en-US" altLang="zh-CN" sz="195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  <a:p>
            <a:pPr marL="0" indent="0" algn="ctr">
              <a:lnSpc>
                <a:spcPts val="23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95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Review &amp; export</a:t>
            </a:r>
            <a:endParaRPr lang="zh-CN" altLang="en-US" sz="195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grpSp>
        <p:nvGrpSpPr>
          <p:cNvPr id="136" name="组合"/>
          <p:cNvGrpSpPr>
            <a:grpSpLocks/>
          </p:cNvGrpSpPr>
          <p:nvPr/>
        </p:nvGrpSpPr>
        <p:grpSpPr>
          <a:xfrm>
            <a:off x="2875464" y="6238513"/>
            <a:ext cx="12642817" cy="1730120"/>
            <a:chOff x="2875464" y="6238513"/>
            <a:chExt cx="12642817" cy="1730120"/>
          </a:xfrm>
        </p:grpSpPr>
        <p:sp>
          <p:nvSpPr>
            <p:cNvPr id="135" name="曲线"/>
            <p:cNvSpPr>
              <a:spLocks/>
            </p:cNvSpPr>
            <p:nvPr/>
          </p:nvSpPr>
          <p:spPr>
            <a:xfrm rot="0">
              <a:off x="2875464" y="6238513"/>
              <a:ext cx="12642817" cy="1730120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599"/>
                  </a:moveTo>
                  <a:cubicBezTo>
                    <a:pt x="0" y="1611"/>
                    <a:pt x="220" y="0"/>
                    <a:pt x="492" y="0"/>
                  </a:cubicBezTo>
                  <a:lnTo>
                    <a:pt x="21107" y="0"/>
                  </a:lnTo>
                  <a:cubicBezTo>
                    <a:pt x="21379" y="0"/>
                    <a:pt x="21600" y="1611"/>
                    <a:pt x="21600" y="3599"/>
                  </a:cubicBezTo>
                  <a:lnTo>
                    <a:pt x="21600" y="18000"/>
                  </a:lnTo>
                  <a:cubicBezTo>
                    <a:pt x="21600" y="19988"/>
                    <a:pt x="21379" y="21600"/>
                    <a:pt x="21107" y="21600"/>
                  </a:cubicBezTo>
                  <a:lnTo>
                    <a:pt x="492" y="21600"/>
                  </a:lnTo>
                  <a:cubicBezTo>
                    <a:pt x="220" y="21600"/>
                    <a:pt x="0" y="19988"/>
                    <a:pt x="0" y="18000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id="138" name="组合"/>
          <p:cNvGrpSpPr>
            <a:grpSpLocks/>
          </p:cNvGrpSpPr>
          <p:nvPr/>
        </p:nvGrpSpPr>
        <p:grpSpPr>
          <a:xfrm>
            <a:off x="2882608" y="6245657"/>
            <a:ext cx="109823" cy="1715833"/>
            <a:chOff x="2882608" y="6245657"/>
            <a:chExt cx="109823" cy="1715833"/>
          </a:xfrm>
        </p:grpSpPr>
        <p:sp>
          <p:nvSpPr>
            <p:cNvPr id="137" name="曲线"/>
            <p:cNvSpPr>
              <a:spLocks/>
            </p:cNvSpPr>
            <p:nvPr/>
          </p:nvSpPr>
          <p:spPr>
            <a:xfrm rot="0">
              <a:off x="2882608" y="6245657"/>
              <a:ext cx="109823" cy="1715833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366FC4"/>
            </a:solidFill>
            <a:ln cmpd="sng" cap="flat">
              <a:noFill/>
              <a:prstDash val="solid"/>
              <a:miter/>
            </a:ln>
          </p:spPr>
        </p:sp>
      </p:grpSp>
      <p:sp>
        <p:nvSpPr>
          <p:cNvPr id="139" name="矩形"/>
          <p:cNvSpPr>
            <a:spLocks/>
          </p:cNvSpPr>
          <p:nvPr/>
        </p:nvSpPr>
        <p:spPr>
          <a:xfrm rot="0">
            <a:off x="3317223" y="6453854"/>
            <a:ext cx="11828002" cy="34315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7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5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Output</a:t>
            </a:r>
            <a:endParaRPr lang="zh-CN" altLang="en-US" sz="225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140" name="矩形"/>
          <p:cNvSpPr>
            <a:spLocks/>
          </p:cNvSpPr>
          <p:nvPr/>
        </p:nvSpPr>
        <p:spPr>
          <a:xfrm rot="0">
            <a:off x="3317223" y="7104336"/>
            <a:ext cx="11828002" cy="26288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26" b="0" i="0" u="none" strike="noStrike" kern="1200" cap="none" spc="0" baseline="0">
                <a:solidFill>
                  <a:srgbClr val="525C6C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A structured, editable legal document draft based on the information supplied by the user.</a:t>
            </a:r>
            <a:endParaRPr lang="zh-CN" altLang="en-US" sz="1726" b="0" i="0" u="none" strike="noStrike" kern="1200" cap="none" spc="0" baseline="0">
              <a:solidFill>
                <a:srgbClr val="525C6C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</p:txBody>
      </p:sp>
      <p:sp>
        <p:nvSpPr>
          <p:cNvPr id="141" name="矩形"/>
          <p:cNvSpPr>
            <a:spLocks/>
          </p:cNvSpPr>
          <p:nvPr/>
        </p:nvSpPr>
        <p:spPr>
          <a:xfrm rot="0">
            <a:off x="16426244" y="9694488"/>
            <a:ext cx="640727" cy="2057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r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51" b="0" i="0" u="none" strike="noStrike" kern="1200" cap="none" spc="0" baseline="0">
                <a:solidFill>
                  <a:srgbClr val="525C6C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5</a:t>
            </a:r>
            <a:endParaRPr lang="zh-CN" altLang="en-US" sz="1351" b="0" i="0" u="none" strike="noStrike" kern="1200" cap="none" spc="0" baseline="0">
              <a:solidFill>
                <a:srgbClr val="525C6C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9491034"/>
      </p:ext>
    </p:extLst>
  </p:cSld>
  <p:clrMapOvr>
    <a:masterClrMapping/>
  </p:clrMapOvr>
</p:sld>
</file>

<file path=ppt/slides/slide7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6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矩形"/>
          <p:cNvSpPr>
            <a:spLocks/>
          </p:cNvSpPr>
          <p:nvPr/>
        </p:nvSpPr>
        <p:spPr>
          <a:xfrm rot="0">
            <a:off x="846410" y="344348"/>
            <a:ext cx="12033904" cy="74925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50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203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5. Key Features</a:t>
            </a:r>
            <a:endParaRPr lang="zh-CN" altLang="en-US" sz="4203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143" name="矩形"/>
          <p:cNvSpPr>
            <a:spLocks/>
          </p:cNvSpPr>
          <p:nvPr/>
        </p:nvSpPr>
        <p:spPr>
          <a:xfrm rot="0">
            <a:off x="887587" y="1188120"/>
            <a:ext cx="13269306" cy="49572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1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1" b="0" i="0" u="none" strike="noStrike" kern="1200" cap="none" spc="0" baseline="0">
                <a:solidFill>
                  <a:srgbClr val="525C6C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Main capabilities of LegalEase</a:t>
            </a:r>
            <a:endParaRPr lang="zh-CN" altLang="en-US" sz="1801" b="0" i="0" u="none" strike="noStrike" kern="1200" cap="none" spc="0" baseline="0">
              <a:solidFill>
                <a:srgbClr val="525C6C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</p:txBody>
      </p:sp>
      <p:grpSp>
        <p:nvGrpSpPr>
          <p:cNvPr id="145" name="组合"/>
          <p:cNvGrpSpPr>
            <a:grpSpLocks/>
          </p:cNvGrpSpPr>
          <p:nvPr/>
        </p:nvGrpSpPr>
        <p:grpSpPr>
          <a:xfrm>
            <a:off x="885092" y="1983228"/>
            <a:ext cx="5161789" cy="2485073"/>
            <a:chOff x="885092" y="1983228"/>
            <a:chExt cx="5161789" cy="2485073"/>
          </a:xfrm>
        </p:grpSpPr>
        <p:sp>
          <p:nvSpPr>
            <p:cNvPr id="144" name="曲线"/>
            <p:cNvSpPr>
              <a:spLocks/>
            </p:cNvSpPr>
            <p:nvPr/>
          </p:nvSpPr>
          <p:spPr>
            <a:xfrm rot="0">
              <a:off x="885092" y="1983228"/>
              <a:ext cx="5161789" cy="2485073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599"/>
                  </a:moveTo>
                  <a:cubicBezTo>
                    <a:pt x="0" y="1611"/>
                    <a:pt x="776" y="0"/>
                    <a:pt x="1733" y="0"/>
                  </a:cubicBezTo>
                  <a:lnTo>
                    <a:pt x="19866" y="0"/>
                  </a:lnTo>
                  <a:cubicBezTo>
                    <a:pt x="20824" y="0"/>
                    <a:pt x="21600" y="1611"/>
                    <a:pt x="21600" y="3599"/>
                  </a:cubicBezTo>
                  <a:lnTo>
                    <a:pt x="21600" y="18000"/>
                  </a:lnTo>
                  <a:cubicBezTo>
                    <a:pt x="21600" y="19988"/>
                    <a:pt x="20823" y="21600"/>
                    <a:pt x="19866" y="21600"/>
                  </a:cubicBezTo>
                  <a:lnTo>
                    <a:pt x="1733" y="21600"/>
                  </a:lnTo>
                  <a:cubicBezTo>
                    <a:pt x="776" y="21600"/>
                    <a:pt x="0" y="19988"/>
                    <a:pt x="0" y="18000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id="147" name="组合"/>
          <p:cNvGrpSpPr>
            <a:grpSpLocks/>
          </p:cNvGrpSpPr>
          <p:nvPr/>
        </p:nvGrpSpPr>
        <p:grpSpPr>
          <a:xfrm>
            <a:off x="892235" y="1990373"/>
            <a:ext cx="109823" cy="2470785"/>
            <a:chOff x="892235" y="1990373"/>
            <a:chExt cx="109823" cy="2470785"/>
          </a:xfrm>
        </p:grpSpPr>
        <p:sp>
          <p:nvSpPr>
            <p:cNvPr id="146" name="曲线"/>
            <p:cNvSpPr>
              <a:spLocks/>
            </p:cNvSpPr>
            <p:nvPr/>
          </p:nvSpPr>
          <p:spPr>
            <a:xfrm rot="0">
              <a:off x="892235" y="1990373"/>
              <a:ext cx="109823" cy="2470785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366FC4"/>
            </a:solidFill>
            <a:ln cmpd="sng" cap="flat">
              <a:noFill/>
              <a:prstDash val="solid"/>
              <a:miter/>
            </a:ln>
          </p:spPr>
        </p:sp>
      </p:grpSp>
      <p:sp>
        <p:nvSpPr>
          <p:cNvPr id="148" name="矩形"/>
          <p:cNvSpPr>
            <a:spLocks/>
          </p:cNvSpPr>
          <p:nvPr/>
        </p:nvSpPr>
        <p:spPr>
          <a:xfrm rot="0">
            <a:off x="1326842" y="2198570"/>
            <a:ext cx="4346943" cy="51477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7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5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AI document generation</a:t>
            </a:r>
            <a:endParaRPr lang="zh-CN" altLang="en-US" sz="225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149" name="矩形"/>
          <p:cNvSpPr>
            <a:spLocks/>
          </p:cNvSpPr>
          <p:nvPr/>
        </p:nvSpPr>
        <p:spPr>
          <a:xfrm rot="0">
            <a:off x="1326842" y="2849051"/>
            <a:ext cx="4346943" cy="138796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26" b="0" i="0" u="none" strike="noStrike" kern="1200" cap="none" spc="0" baseline="0">
                <a:solidFill>
                  <a:srgbClr val="525C6C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Creates a draft from user inputs.</a:t>
            </a:r>
            <a:endParaRPr lang="zh-CN" altLang="en-US" sz="1726" b="0" i="0" u="none" strike="noStrike" kern="1200" cap="none" spc="0" baseline="0">
              <a:solidFill>
                <a:srgbClr val="525C6C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</p:txBody>
      </p:sp>
      <p:grpSp>
        <p:nvGrpSpPr>
          <p:cNvPr id="151" name="组合"/>
          <p:cNvGrpSpPr>
            <a:grpSpLocks/>
          </p:cNvGrpSpPr>
          <p:nvPr/>
        </p:nvGrpSpPr>
        <p:grpSpPr>
          <a:xfrm>
            <a:off x="6650307" y="1983228"/>
            <a:ext cx="5161789" cy="2485073"/>
            <a:chOff x="6650307" y="1983228"/>
            <a:chExt cx="5161789" cy="2485073"/>
          </a:xfrm>
        </p:grpSpPr>
        <p:sp>
          <p:nvSpPr>
            <p:cNvPr id="150" name="曲线"/>
            <p:cNvSpPr>
              <a:spLocks/>
            </p:cNvSpPr>
            <p:nvPr/>
          </p:nvSpPr>
          <p:spPr>
            <a:xfrm rot="0">
              <a:off x="6650307" y="1983228"/>
              <a:ext cx="5161789" cy="2485073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599"/>
                  </a:moveTo>
                  <a:cubicBezTo>
                    <a:pt x="0" y="1611"/>
                    <a:pt x="776" y="0"/>
                    <a:pt x="1733" y="0"/>
                  </a:cubicBezTo>
                  <a:lnTo>
                    <a:pt x="19866" y="0"/>
                  </a:lnTo>
                  <a:cubicBezTo>
                    <a:pt x="20824" y="0"/>
                    <a:pt x="21600" y="1611"/>
                    <a:pt x="21600" y="3599"/>
                  </a:cubicBezTo>
                  <a:lnTo>
                    <a:pt x="21600" y="18000"/>
                  </a:lnTo>
                  <a:cubicBezTo>
                    <a:pt x="21600" y="19988"/>
                    <a:pt x="20823" y="21600"/>
                    <a:pt x="19866" y="21600"/>
                  </a:cubicBezTo>
                  <a:lnTo>
                    <a:pt x="1733" y="21600"/>
                  </a:lnTo>
                  <a:cubicBezTo>
                    <a:pt x="776" y="21600"/>
                    <a:pt x="0" y="19988"/>
                    <a:pt x="0" y="18000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id="153" name="组合"/>
          <p:cNvGrpSpPr>
            <a:grpSpLocks/>
          </p:cNvGrpSpPr>
          <p:nvPr/>
        </p:nvGrpSpPr>
        <p:grpSpPr>
          <a:xfrm>
            <a:off x="6657461" y="1990373"/>
            <a:ext cx="109823" cy="2470785"/>
            <a:chOff x="6657461" y="1990373"/>
            <a:chExt cx="109823" cy="2470785"/>
          </a:xfrm>
        </p:grpSpPr>
        <p:sp>
          <p:nvSpPr>
            <p:cNvPr id="152" name="曲线"/>
            <p:cNvSpPr>
              <a:spLocks/>
            </p:cNvSpPr>
            <p:nvPr/>
          </p:nvSpPr>
          <p:spPr>
            <a:xfrm rot="0">
              <a:off x="6657461" y="1990373"/>
              <a:ext cx="109823" cy="2470785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269D91"/>
            </a:solidFill>
            <a:ln cmpd="sng" cap="flat">
              <a:noFill/>
              <a:prstDash val="solid"/>
              <a:miter/>
            </a:ln>
          </p:spPr>
        </p:sp>
      </p:grpSp>
      <p:sp>
        <p:nvSpPr>
          <p:cNvPr id="154" name="矩形"/>
          <p:cNvSpPr>
            <a:spLocks/>
          </p:cNvSpPr>
          <p:nvPr/>
        </p:nvSpPr>
        <p:spPr>
          <a:xfrm rot="0">
            <a:off x="7092066" y="2198570"/>
            <a:ext cx="4346943" cy="51477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7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5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Templates</a:t>
            </a:r>
            <a:endParaRPr lang="zh-CN" altLang="en-US" sz="225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155" name="矩形"/>
          <p:cNvSpPr>
            <a:spLocks/>
          </p:cNvSpPr>
          <p:nvPr/>
        </p:nvSpPr>
        <p:spPr>
          <a:xfrm rot="0">
            <a:off x="7092066" y="2849051"/>
            <a:ext cx="4346943" cy="138796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26" b="0" i="0" u="none" strike="noStrike" kern="1200" cap="none" spc="0" baseline="0">
                <a:solidFill>
                  <a:srgbClr val="525C6C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Supports different document types.</a:t>
            </a:r>
            <a:endParaRPr lang="zh-CN" altLang="en-US" sz="1726" b="0" i="0" u="none" strike="noStrike" kern="1200" cap="none" spc="0" baseline="0">
              <a:solidFill>
                <a:srgbClr val="525C6C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</p:txBody>
      </p:sp>
      <p:grpSp>
        <p:nvGrpSpPr>
          <p:cNvPr id="157" name="组合"/>
          <p:cNvGrpSpPr>
            <a:grpSpLocks/>
          </p:cNvGrpSpPr>
          <p:nvPr/>
        </p:nvGrpSpPr>
        <p:grpSpPr>
          <a:xfrm>
            <a:off x="12415534" y="1983228"/>
            <a:ext cx="5161789" cy="2485073"/>
            <a:chOff x="12415534" y="1983228"/>
            <a:chExt cx="5161789" cy="2485073"/>
          </a:xfrm>
        </p:grpSpPr>
        <p:sp>
          <p:nvSpPr>
            <p:cNvPr id="156" name="曲线"/>
            <p:cNvSpPr>
              <a:spLocks/>
            </p:cNvSpPr>
            <p:nvPr/>
          </p:nvSpPr>
          <p:spPr>
            <a:xfrm rot="0">
              <a:off x="12415534" y="1983228"/>
              <a:ext cx="5161789" cy="2485073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599"/>
                  </a:moveTo>
                  <a:cubicBezTo>
                    <a:pt x="0" y="1611"/>
                    <a:pt x="776" y="0"/>
                    <a:pt x="1733" y="0"/>
                  </a:cubicBezTo>
                  <a:lnTo>
                    <a:pt x="19866" y="0"/>
                  </a:lnTo>
                  <a:cubicBezTo>
                    <a:pt x="20824" y="0"/>
                    <a:pt x="21600" y="1611"/>
                    <a:pt x="21600" y="3599"/>
                  </a:cubicBezTo>
                  <a:lnTo>
                    <a:pt x="21600" y="18000"/>
                  </a:lnTo>
                  <a:cubicBezTo>
                    <a:pt x="21600" y="19988"/>
                    <a:pt x="20823" y="21600"/>
                    <a:pt x="19866" y="21600"/>
                  </a:cubicBezTo>
                  <a:lnTo>
                    <a:pt x="1733" y="21600"/>
                  </a:lnTo>
                  <a:cubicBezTo>
                    <a:pt x="776" y="21600"/>
                    <a:pt x="0" y="19988"/>
                    <a:pt x="0" y="18000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id="159" name="组合"/>
          <p:cNvGrpSpPr>
            <a:grpSpLocks/>
          </p:cNvGrpSpPr>
          <p:nvPr/>
        </p:nvGrpSpPr>
        <p:grpSpPr>
          <a:xfrm>
            <a:off x="12422686" y="1990373"/>
            <a:ext cx="109823" cy="2470785"/>
            <a:chOff x="12422686" y="1990373"/>
            <a:chExt cx="109823" cy="2470785"/>
          </a:xfrm>
        </p:grpSpPr>
        <p:sp>
          <p:nvSpPr>
            <p:cNvPr id="158" name="曲线"/>
            <p:cNvSpPr>
              <a:spLocks/>
            </p:cNvSpPr>
            <p:nvPr/>
          </p:nvSpPr>
          <p:spPr>
            <a:xfrm rot="0">
              <a:off x="12422686" y="1990373"/>
              <a:ext cx="109823" cy="2470785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162D4E"/>
            </a:solidFill>
            <a:ln cmpd="sng" cap="flat">
              <a:noFill/>
              <a:prstDash val="solid"/>
              <a:miter/>
            </a:ln>
          </p:spPr>
        </p:sp>
      </p:grpSp>
      <p:sp>
        <p:nvSpPr>
          <p:cNvPr id="160" name="矩形"/>
          <p:cNvSpPr>
            <a:spLocks/>
          </p:cNvSpPr>
          <p:nvPr/>
        </p:nvSpPr>
        <p:spPr>
          <a:xfrm rot="0">
            <a:off x="12857293" y="2198570"/>
            <a:ext cx="4346943" cy="51477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7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5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Easy editing</a:t>
            </a:r>
            <a:endParaRPr lang="zh-CN" altLang="en-US" sz="225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161" name="矩形"/>
          <p:cNvSpPr>
            <a:spLocks/>
          </p:cNvSpPr>
          <p:nvPr/>
        </p:nvSpPr>
        <p:spPr>
          <a:xfrm rot="0">
            <a:off x="12857293" y="2849051"/>
            <a:ext cx="4346943" cy="138796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26" b="0" i="0" u="none" strike="noStrike" kern="1200" cap="none" spc="0" baseline="0">
                <a:solidFill>
                  <a:srgbClr val="525C6C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Allows users to review and modify text.</a:t>
            </a:r>
            <a:endParaRPr lang="zh-CN" altLang="en-US" sz="1726" b="0" i="0" u="none" strike="noStrike" kern="1200" cap="none" spc="0" baseline="0">
              <a:solidFill>
                <a:srgbClr val="525C6C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</p:txBody>
      </p:sp>
      <p:grpSp>
        <p:nvGrpSpPr>
          <p:cNvPr id="163" name="组合"/>
          <p:cNvGrpSpPr>
            <a:grpSpLocks/>
          </p:cNvGrpSpPr>
          <p:nvPr/>
        </p:nvGrpSpPr>
        <p:grpSpPr>
          <a:xfrm>
            <a:off x="885092" y="5071739"/>
            <a:ext cx="5161789" cy="2485072"/>
            <a:chOff x="885092" y="5071739"/>
            <a:chExt cx="5161789" cy="2485072"/>
          </a:xfrm>
        </p:grpSpPr>
        <p:sp>
          <p:nvSpPr>
            <p:cNvPr id="162" name="曲线"/>
            <p:cNvSpPr>
              <a:spLocks/>
            </p:cNvSpPr>
            <p:nvPr/>
          </p:nvSpPr>
          <p:spPr>
            <a:xfrm rot="0">
              <a:off x="885092" y="5071739"/>
              <a:ext cx="5161789" cy="2485072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599"/>
                  </a:moveTo>
                  <a:cubicBezTo>
                    <a:pt x="0" y="1611"/>
                    <a:pt x="776" y="0"/>
                    <a:pt x="1733" y="0"/>
                  </a:cubicBezTo>
                  <a:lnTo>
                    <a:pt x="19866" y="0"/>
                  </a:lnTo>
                  <a:cubicBezTo>
                    <a:pt x="20824" y="0"/>
                    <a:pt x="21600" y="1611"/>
                    <a:pt x="21600" y="3599"/>
                  </a:cubicBezTo>
                  <a:lnTo>
                    <a:pt x="21600" y="18000"/>
                  </a:lnTo>
                  <a:cubicBezTo>
                    <a:pt x="21600" y="19988"/>
                    <a:pt x="20823" y="21600"/>
                    <a:pt x="19866" y="21600"/>
                  </a:cubicBezTo>
                  <a:lnTo>
                    <a:pt x="1733" y="21600"/>
                  </a:lnTo>
                  <a:cubicBezTo>
                    <a:pt x="776" y="21600"/>
                    <a:pt x="0" y="19988"/>
                    <a:pt x="0" y="18000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id="165" name="组合"/>
          <p:cNvGrpSpPr>
            <a:grpSpLocks/>
          </p:cNvGrpSpPr>
          <p:nvPr/>
        </p:nvGrpSpPr>
        <p:grpSpPr>
          <a:xfrm>
            <a:off x="892235" y="5078891"/>
            <a:ext cx="109823" cy="2470785"/>
            <a:chOff x="892235" y="5078891"/>
            <a:chExt cx="109823" cy="2470785"/>
          </a:xfrm>
        </p:grpSpPr>
        <p:sp>
          <p:nvSpPr>
            <p:cNvPr id="164" name="曲线"/>
            <p:cNvSpPr>
              <a:spLocks/>
            </p:cNvSpPr>
            <p:nvPr/>
          </p:nvSpPr>
          <p:spPr>
            <a:xfrm rot="0">
              <a:off x="892235" y="5078891"/>
              <a:ext cx="109823" cy="2470785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366FC4"/>
            </a:solidFill>
            <a:ln cmpd="sng" cap="flat">
              <a:noFill/>
              <a:prstDash val="solid"/>
              <a:miter/>
            </a:ln>
          </p:spPr>
        </p:sp>
      </p:grpSp>
      <p:sp>
        <p:nvSpPr>
          <p:cNvPr id="166" name="矩形"/>
          <p:cNvSpPr>
            <a:spLocks/>
          </p:cNvSpPr>
          <p:nvPr/>
        </p:nvSpPr>
        <p:spPr>
          <a:xfrm rot="0">
            <a:off x="1326842" y="5287089"/>
            <a:ext cx="4346943" cy="51477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7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5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Export</a:t>
            </a:r>
            <a:endParaRPr lang="zh-CN" altLang="en-US" sz="225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167" name="矩形"/>
          <p:cNvSpPr>
            <a:spLocks/>
          </p:cNvSpPr>
          <p:nvPr/>
        </p:nvSpPr>
        <p:spPr>
          <a:xfrm rot="0">
            <a:off x="1326842" y="5937561"/>
            <a:ext cx="4346943" cy="138796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26" b="0" i="0" u="none" strike="noStrike" kern="1200" cap="none" spc="0" baseline="0">
                <a:solidFill>
                  <a:srgbClr val="525C6C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Can produce a printable/downloadable document.</a:t>
            </a:r>
            <a:endParaRPr lang="zh-CN" altLang="en-US" sz="1726" b="0" i="0" u="none" strike="noStrike" kern="1200" cap="none" spc="0" baseline="0">
              <a:solidFill>
                <a:srgbClr val="525C6C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</p:txBody>
      </p:sp>
      <p:grpSp>
        <p:nvGrpSpPr>
          <p:cNvPr id="169" name="组合"/>
          <p:cNvGrpSpPr>
            <a:grpSpLocks/>
          </p:cNvGrpSpPr>
          <p:nvPr/>
        </p:nvGrpSpPr>
        <p:grpSpPr>
          <a:xfrm>
            <a:off x="6650307" y="5071739"/>
            <a:ext cx="5161789" cy="2485072"/>
            <a:chOff x="6650307" y="5071739"/>
            <a:chExt cx="5161789" cy="2485072"/>
          </a:xfrm>
        </p:grpSpPr>
        <p:sp>
          <p:nvSpPr>
            <p:cNvPr id="168" name="曲线"/>
            <p:cNvSpPr>
              <a:spLocks/>
            </p:cNvSpPr>
            <p:nvPr/>
          </p:nvSpPr>
          <p:spPr>
            <a:xfrm rot="0">
              <a:off x="6650307" y="5071739"/>
              <a:ext cx="5161789" cy="2485072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599"/>
                  </a:moveTo>
                  <a:cubicBezTo>
                    <a:pt x="0" y="1611"/>
                    <a:pt x="776" y="0"/>
                    <a:pt x="1733" y="0"/>
                  </a:cubicBezTo>
                  <a:lnTo>
                    <a:pt x="19866" y="0"/>
                  </a:lnTo>
                  <a:cubicBezTo>
                    <a:pt x="20824" y="0"/>
                    <a:pt x="21600" y="1611"/>
                    <a:pt x="21600" y="3599"/>
                  </a:cubicBezTo>
                  <a:lnTo>
                    <a:pt x="21600" y="18000"/>
                  </a:lnTo>
                  <a:cubicBezTo>
                    <a:pt x="21600" y="19988"/>
                    <a:pt x="20823" y="21600"/>
                    <a:pt x="19866" y="21600"/>
                  </a:cubicBezTo>
                  <a:lnTo>
                    <a:pt x="1733" y="21600"/>
                  </a:lnTo>
                  <a:cubicBezTo>
                    <a:pt x="776" y="21600"/>
                    <a:pt x="0" y="19988"/>
                    <a:pt x="0" y="18000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id="171" name="组合"/>
          <p:cNvGrpSpPr>
            <a:grpSpLocks/>
          </p:cNvGrpSpPr>
          <p:nvPr/>
        </p:nvGrpSpPr>
        <p:grpSpPr>
          <a:xfrm>
            <a:off x="6657461" y="5078891"/>
            <a:ext cx="109823" cy="2470785"/>
            <a:chOff x="6657461" y="5078891"/>
            <a:chExt cx="109823" cy="2470785"/>
          </a:xfrm>
        </p:grpSpPr>
        <p:sp>
          <p:nvSpPr>
            <p:cNvPr id="170" name="曲线"/>
            <p:cNvSpPr>
              <a:spLocks/>
            </p:cNvSpPr>
            <p:nvPr/>
          </p:nvSpPr>
          <p:spPr>
            <a:xfrm rot="0">
              <a:off x="6657461" y="5078891"/>
              <a:ext cx="109823" cy="2470785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269D91"/>
            </a:solidFill>
            <a:ln cmpd="sng" cap="flat">
              <a:noFill/>
              <a:prstDash val="solid"/>
              <a:miter/>
            </a:ln>
          </p:spPr>
        </p:sp>
      </p:grpSp>
      <p:sp>
        <p:nvSpPr>
          <p:cNvPr id="172" name="矩形"/>
          <p:cNvSpPr>
            <a:spLocks/>
          </p:cNvSpPr>
          <p:nvPr/>
        </p:nvSpPr>
        <p:spPr>
          <a:xfrm rot="0">
            <a:off x="7092066" y="5287089"/>
            <a:ext cx="4346943" cy="51477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7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5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Secure design</a:t>
            </a:r>
            <a:endParaRPr lang="zh-CN" altLang="en-US" sz="225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173" name="矩形"/>
          <p:cNvSpPr>
            <a:spLocks/>
          </p:cNvSpPr>
          <p:nvPr/>
        </p:nvSpPr>
        <p:spPr>
          <a:xfrm rot="0">
            <a:off x="7092066" y="5937561"/>
            <a:ext cx="4346943" cy="138796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26" b="0" i="0" u="none" strike="noStrike" kern="1200" cap="none" spc="0" baseline="0">
                <a:solidFill>
                  <a:srgbClr val="525C6C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Authentication and data protection can be included.</a:t>
            </a:r>
            <a:endParaRPr lang="zh-CN" altLang="en-US" sz="1726" b="0" i="0" u="none" strike="noStrike" kern="1200" cap="none" spc="0" baseline="0">
              <a:solidFill>
                <a:srgbClr val="525C6C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</p:txBody>
      </p:sp>
      <p:grpSp>
        <p:nvGrpSpPr>
          <p:cNvPr id="175" name="组合"/>
          <p:cNvGrpSpPr>
            <a:grpSpLocks/>
          </p:cNvGrpSpPr>
          <p:nvPr/>
        </p:nvGrpSpPr>
        <p:grpSpPr>
          <a:xfrm>
            <a:off x="12415534" y="5071739"/>
            <a:ext cx="5161789" cy="2485072"/>
            <a:chOff x="12415534" y="5071739"/>
            <a:chExt cx="5161789" cy="2485072"/>
          </a:xfrm>
        </p:grpSpPr>
        <p:sp>
          <p:nvSpPr>
            <p:cNvPr id="174" name="曲线"/>
            <p:cNvSpPr>
              <a:spLocks/>
            </p:cNvSpPr>
            <p:nvPr/>
          </p:nvSpPr>
          <p:spPr>
            <a:xfrm rot="0">
              <a:off x="12415534" y="5071739"/>
              <a:ext cx="5161789" cy="2485072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599"/>
                  </a:moveTo>
                  <a:cubicBezTo>
                    <a:pt x="0" y="1611"/>
                    <a:pt x="776" y="0"/>
                    <a:pt x="1733" y="0"/>
                  </a:cubicBezTo>
                  <a:lnTo>
                    <a:pt x="19866" y="0"/>
                  </a:lnTo>
                  <a:cubicBezTo>
                    <a:pt x="20824" y="0"/>
                    <a:pt x="21600" y="1611"/>
                    <a:pt x="21600" y="3599"/>
                  </a:cubicBezTo>
                  <a:lnTo>
                    <a:pt x="21600" y="18000"/>
                  </a:lnTo>
                  <a:cubicBezTo>
                    <a:pt x="21600" y="19988"/>
                    <a:pt x="20823" y="21600"/>
                    <a:pt x="19866" y="21600"/>
                  </a:cubicBezTo>
                  <a:lnTo>
                    <a:pt x="1733" y="21600"/>
                  </a:lnTo>
                  <a:cubicBezTo>
                    <a:pt x="776" y="21600"/>
                    <a:pt x="0" y="19988"/>
                    <a:pt x="0" y="18000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id="177" name="组合"/>
          <p:cNvGrpSpPr>
            <a:grpSpLocks/>
          </p:cNvGrpSpPr>
          <p:nvPr/>
        </p:nvGrpSpPr>
        <p:grpSpPr>
          <a:xfrm>
            <a:off x="12422686" y="5078891"/>
            <a:ext cx="109823" cy="2470785"/>
            <a:chOff x="12422686" y="5078891"/>
            <a:chExt cx="109823" cy="2470785"/>
          </a:xfrm>
        </p:grpSpPr>
        <p:sp>
          <p:nvSpPr>
            <p:cNvPr id="176" name="曲线"/>
            <p:cNvSpPr>
              <a:spLocks/>
            </p:cNvSpPr>
            <p:nvPr/>
          </p:nvSpPr>
          <p:spPr>
            <a:xfrm rot="0">
              <a:off x="12422686" y="5078891"/>
              <a:ext cx="109823" cy="2470785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162D4E"/>
            </a:solidFill>
            <a:ln cmpd="sng" cap="flat">
              <a:noFill/>
              <a:prstDash val="solid"/>
              <a:miter/>
            </a:ln>
          </p:spPr>
        </p:sp>
      </p:grpSp>
      <p:sp>
        <p:nvSpPr>
          <p:cNvPr id="178" name="矩形"/>
          <p:cNvSpPr>
            <a:spLocks/>
          </p:cNvSpPr>
          <p:nvPr/>
        </p:nvSpPr>
        <p:spPr>
          <a:xfrm rot="0">
            <a:off x="12857293" y="5287089"/>
            <a:ext cx="4346943" cy="51477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7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5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Simple interface</a:t>
            </a:r>
            <a:endParaRPr lang="zh-CN" altLang="en-US" sz="225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179" name="矩形"/>
          <p:cNvSpPr>
            <a:spLocks/>
          </p:cNvSpPr>
          <p:nvPr/>
        </p:nvSpPr>
        <p:spPr>
          <a:xfrm rot="0">
            <a:off x="12857293" y="5937561"/>
            <a:ext cx="4346943" cy="138796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26" b="0" i="0" u="none" strike="noStrike" kern="1200" cap="none" spc="0" baseline="0">
                <a:solidFill>
                  <a:srgbClr val="525C6C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Designed for users without technical expertise.</a:t>
            </a:r>
            <a:endParaRPr lang="zh-CN" altLang="en-US" sz="1726" b="0" i="0" u="none" strike="noStrike" kern="1200" cap="none" spc="0" baseline="0">
              <a:solidFill>
                <a:srgbClr val="525C6C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</p:txBody>
      </p:sp>
      <p:sp>
        <p:nvSpPr>
          <p:cNvPr id="180" name="矩形"/>
          <p:cNvSpPr>
            <a:spLocks/>
          </p:cNvSpPr>
          <p:nvPr/>
        </p:nvSpPr>
        <p:spPr>
          <a:xfrm rot="0">
            <a:off x="16426244" y="9694488"/>
            <a:ext cx="640727" cy="21167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r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51" b="0" i="0" u="none" strike="noStrike" kern="1200" cap="none" spc="0" baseline="0">
                <a:solidFill>
                  <a:srgbClr val="525C6C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6</a:t>
            </a:r>
            <a:endParaRPr lang="zh-CN" altLang="en-US" sz="1351" b="0" i="0" u="none" strike="noStrike" kern="1200" cap="none" spc="0" baseline="0">
              <a:solidFill>
                <a:srgbClr val="525C6C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6760071"/>
      </p:ext>
    </p:extLst>
  </p:cSld>
  <p:clrMapOvr>
    <a:masterClrMapping/>
  </p:clrMapOvr>
</p:sld>
</file>

<file path=ppt/slides/slide8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6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矩形"/>
          <p:cNvSpPr>
            <a:spLocks/>
          </p:cNvSpPr>
          <p:nvPr/>
        </p:nvSpPr>
        <p:spPr>
          <a:xfrm rot="0">
            <a:off x="846410" y="344348"/>
            <a:ext cx="12033904" cy="74925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50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203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6. Technology Stack</a:t>
            </a:r>
            <a:endParaRPr lang="zh-CN" altLang="en-US" sz="4203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182" name="矩形"/>
          <p:cNvSpPr>
            <a:spLocks/>
          </p:cNvSpPr>
          <p:nvPr/>
        </p:nvSpPr>
        <p:spPr>
          <a:xfrm rot="0">
            <a:off x="887587" y="1188120"/>
            <a:ext cx="13269306" cy="49572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1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1" b="0" i="0" u="none" strike="noStrike" kern="1200" cap="none" spc="0" baseline="0">
                <a:solidFill>
                  <a:srgbClr val="525C6C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Possible implementation technologies</a:t>
            </a:r>
            <a:endParaRPr lang="zh-CN" altLang="en-US" sz="1801" b="0" i="0" u="none" strike="noStrike" kern="1200" cap="none" spc="0" baseline="0">
              <a:solidFill>
                <a:srgbClr val="525C6C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</p:txBody>
      </p:sp>
      <p:grpSp>
        <p:nvGrpSpPr>
          <p:cNvPr id="184" name="组合"/>
          <p:cNvGrpSpPr>
            <a:grpSpLocks/>
          </p:cNvGrpSpPr>
          <p:nvPr/>
        </p:nvGrpSpPr>
        <p:grpSpPr>
          <a:xfrm>
            <a:off x="1365523" y="1845955"/>
            <a:ext cx="3034188" cy="769239"/>
            <a:chOff x="1365523" y="1845955"/>
            <a:chExt cx="3034188" cy="769239"/>
          </a:xfrm>
        </p:grpSpPr>
        <p:sp>
          <p:nvSpPr>
            <p:cNvPr id="183" name="曲线"/>
            <p:cNvSpPr>
              <a:spLocks/>
            </p:cNvSpPr>
            <p:nvPr/>
          </p:nvSpPr>
          <p:spPr>
            <a:xfrm rot="0">
              <a:off x="1365523" y="1845955"/>
              <a:ext cx="3034188" cy="76923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599"/>
                  </a:moveTo>
                  <a:cubicBezTo>
                    <a:pt x="0" y="1612"/>
                    <a:pt x="408" y="0"/>
                    <a:pt x="912" y="0"/>
                  </a:cubicBezTo>
                  <a:lnTo>
                    <a:pt x="20687" y="0"/>
                  </a:lnTo>
                  <a:cubicBezTo>
                    <a:pt x="21191" y="0"/>
                    <a:pt x="21600" y="1612"/>
                    <a:pt x="21600" y="3599"/>
                  </a:cubicBezTo>
                  <a:lnTo>
                    <a:pt x="21600" y="18000"/>
                  </a:lnTo>
                  <a:cubicBezTo>
                    <a:pt x="21600" y="19987"/>
                    <a:pt x="21191" y="21600"/>
                    <a:pt x="20687" y="21600"/>
                  </a:cubicBezTo>
                  <a:lnTo>
                    <a:pt x="912" y="21600"/>
                  </a:lnTo>
                  <a:cubicBezTo>
                    <a:pt x="408" y="21600"/>
                    <a:pt x="0" y="19989"/>
                    <a:pt x="0" y="18000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185" name="矩形"/>
          <p:cNvSpPr>
            <a:spLocks/>
          </p:cNvSpPr>
          <p:nvPr/>
        </p:nvSpPr>
        <p:spPr>
          <a:xfrm rot="0">
            <a:off x="1573930" y="1970541"/>
            <a:ext cx="2617375" cy="48200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21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Frontend</a:t>
            </a:r>
            <a:endParaRPr lang="zh-CN" altLang="en-US" sz="180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grpSp>
        <p:nvGrpSpPr>
          <p:cNvPr id="187" name="组合"/>
          <p:cNvGrpSpPr>
            <a:grpSpLocks/>
          </p:cNvGrpSpPr>
          <p:nvPr/>
        </p:nvGrpSpPr>
        <p:grpSpPr>
          <a:xfrm>
            <a:off x="4728572" y="1845955"/>
            <a:ext cx="10858404" cy="769239"/>
            <a:chOff x="4728572" y="1845955"/>
            <a:chExt cx="10858404" cy="769239"/>
          </a:xfrm>
        </p:grpSpPr>
        <p:sp>
          <p:nvSpPr>
            <p:cNvPr id="186" name="曲线"/>
            <p:cNvSpPr>
              <a:spLocks/>
            </p:cNvSpPr>
            <p:nvPr/>
          </p:nvSpPr>
          <p:spPr>
            <a:xfrm rot="0">
              <a:off x="4728572" y="1845955"/>
              <a:ext cx="10858404" cy="76923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599"/>
                  </a:moveTo>
                  <a:cubicBezTo>
                    <a:pt x="0" y="1612"/>
                    <a:pt x="114" y="0"/>
                    <a:pt x="255" y="0"/>
                  </a:cubicBezTo>
                  <a:lnTo>
                    <a:pt x="21344" y="0"/>
                  </a:lnTo>
                  <a:cubicBezTo>
                    <a:pt x="21485" y="0"/>
                    <a:pt x="21600" y="1612"/>
                    <a:pt x="21600" y="3599"/>
                  </a:cubicBezTo>
                  <a:lnTo>
                    <a:pt x="21600" y="18000"/>
                  </a:lnTo>
                  <a:cubicBezTo>
                    <a:pt x="21600" y="19987"/>
                    <a:pt x="21485" y="21600"/>
                    <a:pt x="21344" y="21600"/>
                  </a:cubicBezTo>
                  <a:lnTo>
                    <a:pt x="255" y="21600"/>
                  </a:lnTo>
                  <a:cubicBezTo>
                    <a:pt x="114" y="21600"/>
                    <a:pt x="0" y="19989"/>
                    <a:pt x="0" y="18000"/>
                  </a:cubicBezTo>
                  <a:close/>
                </a:path>
              </a:pathLst>
            </a:custGeom>
            <a:solidFill>
              <a:srgbClr val="EEF4FC"/>
            </a:solidFill>
            <a:ln w="14299" cmpd="sng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188" name="矩形"/>
          <p:cNvSpPr>
            <a:spLocks/>
          </p:cNvSpPr>
          <p:nvPr/>
        </p:nvSpPr>
        <p:spPr>
          <a:xfrm rot="0">
            <a:off x="4936969" y="1970541"/>
            <a:ext cx="10441600" cy="48200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21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HTML • CSS • JavaScript / React</a:t>
            </a:r>
            <a:endParaRPr lang="zh-CN" altLang="en-US" sz="180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189" name="直线"/>
          <p:cNvSpPr>
            <a:spLocks/>
          </p:cNvSpPr>
          <p:nvPr/>
        </p:nvSpPr>
        <p:spPr>
          <a:xfrm rot="5080260">
            <a:off x="2677353" y="2783862"/>
            <a:ext cx="410528" cy="0"/>
          </a:xfrm>
          <a:prstGeom prst="line"/>
          <a:noFill/>
          <a:ln w="19050" cmpd="sng" cap="rnd">
            <a:solidFill>
              <a:srgbClr val="366FC4"/>
            </a:solidFill>
            <a:prstDash val="solid"/>
            <a:round/>
          </a:ln>
        </p:spPr>
      </p:sp>
      <p:grpSp>
        <p:nvGrpSpPr>
          <p:cNvPr id="191" name="组合"/>
          <p:cNvGrpSpPr>
            <a:grpSpLocks/>
          </p:cNvGrpSpPr>
          <p:nvPr/>
        </p:nvGrpSpPr>
        <p:grpSpPr>
          <a:xfrm>
            <a:off x="1365523" y="2971551"/>
            <a:ext cx="3034188" cy="769239"/>
            <a:chOff x="1365523" y="2971551"/>
            <a:chExt cx="3034188" cy="769239"/>
          </a:xfrm>
        </p:grpSpPr>
        <p:sp>
          <p:nvSpPr>
            <p:cNvPr id="190" name="曲线"/>
            <p:cNvSpPr>
              <a:spLocks/>
            </p:cNvSpPr>
            <p:nvPr/>
          </p:nvSpPr>
          <p:spPr>
            <a:xfrm rot="0">
              <a:off x="1365523" y="2971551"/>
              <a:ext cx="3034188" cy="76923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599"/>
                  </a:moveTo>
                  <a:cubicBezTo>
                    <a:pt x="0" y="1612"/>
                    <a:pt x="408" y="0"/>
                    <a:pt x="912" y="0"/>
                  </a:cubicBezTo>
                  <a:lnTo>
                    <a:pt x="20687" y="0"/>
                  </a:lnTo>
                  <a:cubicBezTo>
                    <a:pt x="21191" y="0"/>
                    <a:pt x="21600" y="1612"/>
                    <a:pt x="21600" y="3599"/>
                  </a:cubicBezTo>
                  <a:lnTo>
                    <a:pt x="21600" y="18000"/>
                  </a:lnTo>
                  <a:cubicBezTo>
                    <a:pt x="21600" y="19987"/>
                    <a:pt x="21191" y="21600"/>
                    <a:pt x="20687" y="21600"/>
                  </a:cubicBezTo>
                  <a:lnTo>
                    <a:pt x="912" y="21600"/>
                  </a:lnTo>
                  <a:cubicBezTo>
                    <a:pt x="408" y="21600"/>
                    <a:pt x="0" y="19989"/>
                    <a:pt x="0" y="18000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192" name="矩形"/>
          <p:cNvSpPr>
            <a:spLocks/>
          </p:cNvSpPr>
          <p:nvPr/>
        </p:nvSpPr>
        <p:spPr>
          <a:xfrm rot="0">
            <a:off x="1573930" y="3096130"/>
            <a:ext cx="2617375" cy="48200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21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Backend</a:t>
            </a:r>
            <a:endParaRPr lang="zh-CN" altLang="en-US" sz="180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grpSp>
        <p:nvGrpSpPr>
          <p:cNvPr id="194" name="组合"/>
          <p:cNvGrpSpPr>
            <a:grpSpLocks/>
          </p:cNvGrpSpPr>
          <p:nvPr/>
        </p:nvGrpSpPr>
        <p:grpSpPr>
          <a:xfrm>
            <a:off x="4728572" y="2971551"/>
            <a:ext cx="10858404" cy="769239"/>
            <a:chOff x="4728572" y="2971551"/>
            <a:chExt cx="10858404" cy="769239"/>
          </a:xfrm>
        </p:grpSpPr>
        <p:sp>
          <p:nvSpPr>
            <p:cNvPr id="193" name="曲线"/>
            <p:cNvSpPr>
              <a:spLocks/>
            </p:cNvSpPr>
            <p:nvPr/>
          </p:nvSpPr>
          <p:spPr>
            <a:xfrm rot="0">
              <a:off x="4728572" y="2971551"/>
              <a:ext cx="10858404" cy="76923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599"/>
                  </a:moveTo>
                  <a:cubicBezTo>
                    <a:pt x="0" y="1612"/>
                    <a:pt x="114" y="0"/>
                    <a:pt x="255" y="0"/>
                  </a:cubicBezTo>
                  <a:lnTo>
                    <a:pt x="21344" y="0"/>
                  </a:lnTo>
                  <a:cubicBezTo>
                    <a:pt x="21485" y="0"/>
                    <a:pt x="21600" y="1612"/>
                    <a:pt x="21600" y="3599"/>
                  </a:cubicBezTo>
                  <a:lnTo>
                    <a:pt x="21600" y="18000"/>
                  </a:lnTo>
                  <a:cubicBezTo>
                    <a:pt x="21600" y="19987"/>
                    <a:pt x="21485" y="21600"/>
                    <a:pt x="21344" y="21600"/>
                  </a:cubicBezTo>
                  <a:lnTo>
                    <a:pt x="255" y="21600"/>
                  </a:lnTo>
                  <a:cubicBezTo>
                    <a:pt x="114" y="21600"/>
                    <a:pt x="0" y="19989"/>
                    <a:pt x="0" y="18000"/>
                  </a:cubicBezTo>
                  <a:close/>
                </a:path>
              </a:pathLst>
            </a:custGeom>
            <a:solidFill>
              <a:srgbClr val="EEF4FC"/>
            </a:solidFill>
            <a:ln w="14299" cmpd="sng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195" name="矩形"/>
          <p:cNvSpPr>
            <a:spLocks/>
          </p:cNvSpPr>
          <p:nvPr/>
        </p:nvSpPr>
        <p:spPr>
          <a:xfrm rot="0">
            <a:off x="4936969" y="3096130"/>
            <a:ext cx="10441600" cy="48200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21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Python / Node.js</a:t>
            </a:r>
            <a:endParaRPr lang="zh-CN" altLang="en-US" sz="180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196" name="直线"/>
          <p:cNvSpPr>
            <a:spLocks/>
          </p:cNvSpPr>
          <p:nvPr/>
        </p:nvSpPr>
        <p:spPr>
          <a:xfrm rot="5080260">
            <a:off x="2677353" y="3909450"/>
            <a:ext cx="410528" cy="0"/>
          </a:xfrm>
          <a:prstGeom prst="line"/>
          <a:noFill/>
          <a:ln w="19050" cmpd="sng" cap="rnd">
            <a:solidFill>
              <a:srgbClr val="366FC4"/>
            </a:solidFill>
            <a:prstDash val="solid"/>
            <a:round/>
          </a:ln>
        </p:spPr>
      </p:sp>
      <p:grpSp>
        <p:nvGrpSpPr>
          <p:cNvPr id="198" name="组合"/>
          <p:cNvGrpSpPr>
            <a:grpSpLocks/>
          </p:cNvGrpSpPr>
          <p:nvPr/>
        </p:nvGrpSpPr>
        <p:grpSpPr>
          <a:xfrm>
            <a:off x="1365523" y="4097141"/>
            <a:ext cx="3034188" cy="769239"/>
            <a:chOff x="1365523" y="4097141"/>
            <a:chExt cx="3034188" cy="769239"/>
          </a:xfrm>
        </p:grpSpPr>
        <p:sp>
          <p:nvSpPr>
            <p:cNvPr id="197" name="曲线"/>
            <p:cNvSpPr>
              <a:spLocks/>
            </p:cNvSpPr>
            <p:nvPr/>
          </p:nvSpPr>
          <p:spPr>
            <a:xfrm rot="0">
              <a:off x="1365523" y="4097141"/>
              <a:ext cx="3034188" cy="76923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599"/>
                  </a:moveTo>
                  <a:cubicBezTo>
                    <a:pt x="0" y="1612"/>
                    <a:pt x="408" y="0"/>
                    <a:pt x="912" y="0"/>
                  </a:cubicBezTo>
                  <a:lnTo>
                    <a:pt x="20687" y="0"/>
                  </a:lnTo>
                  <a:cubicBezTo>
                    <a:pt x="21191" y="0"/>
                    <a:pt x="21600" y="1612"/>
                    <a:pt x="21600" y="3599"/>
                  </a:cubicBezTo>
                  <a:lnTo>
                    <a:pt x="21600" y="18000"/>
                  </a:lnTo>
                  <a:cubicBezTo>
                    <a:pt x="21600" y="19987"/>
                    <a:pt x="21191" y="21600"/>
                    <a:pt x="20687" y="21600"/>
                  </a:cubicBezTo>
                  <a:lnTo>
                    <a:pt x="912" y="21600"/>
                  </a:lnTo>
                  <a:cubicBezTo>
                    <a:pt x="408" y="21600"/>
                    <a:pt x="0" y="19989"/>
                    <a:pt x="0" y="18000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199" name="矩形"/>
          <p:cNvSpPr>
            <a:spLocks/>
          </p:cNvSpPr>
          <p:nvPr/>
        </p:nvSpPr>
        <p:spPr>
          <a:xfrm rot="0">
            <a:off x="1573930" y="4221728"/>
            <a:ext cx="2617375" cy="48200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21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AI Layer</a:t>
            </a:r>
            <a:endParaRPr lang="zh-CN" altLang="en-US" sz="180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grpSp>
        <p:nvGrpSpPr>
          <p:cNvPr id="201" name="组合"/>
          <p:cNvGrpSpPr>
            <a:grpSpLocks/>
          </p:cNvGrpSpPr>
          <p:nvPr/>
        </p:nvGrpSpPr>
        <p:grpSpPr>
          <a:xfrm>
            <a:off x="4728572" y="4097141"/>
            <a:ext cx="10858404" cy="769239"/>
            <a:chOff x="4728572" y="4097141"/>
            <a:chExt cx="10858404" cy="769239"/>
          </a:xfrm>
        </p:grpSpPr>
        <p:sp>
          <p:nvSpPr>
            <p:cNvPr id="200" name="曲线"/>
            <p:cNvSpPr>
              <a:spLocks/>
            </p:cNvSpPr>
            <p:nvPr/>
          </p:nvSpPr>
          <p:spPr>
            <a:xfrm rot="0">
              <a:off x="4728572" y="4097141"/>
              <a:ext cx="10858404" cy="76923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599"/>
                  </a:moveTo>
                  <a:cubicBezTo>
                    <a:pt x="0" y="1612"/>
                    <a:pt x="114" y="0"/>
                    <a:pt x="255" y="0"/>
                  </a:cubicBezTo>
                  <a:lnTo>
                    <a:pt x="21344" y="0"/>
                  </a:lnTo>
                  <a:cubicBezTo>
                    <a:pt x="21485" y="0"/>
                    <a:pt x="21600" y="1612"/>
                    <a:pt x="21600" y="3599"/>
                  </a:cubicBezTo>
                  <a:lnTo>
                    <a:pt x="21600" y="18000"/>
                  </a:lnTo>
                  <a:cubicBezTo>
                    <a:pt x="21600" y="19987"/>
                    <a:pt x="21485" y="21600"/>
                    <a:pt x="21344" y="21600"/>
                  </a:cubicBezTo>
                  <a:lnTo>
                    <a:pt x="255" y="21600"/>
                  </a:lnTo>
                  <a:cubicBezTo>
                    <a:pt x="114" y="21600"/>
                    <a:pt x="0" y="19989"/>
                    <a:pt x="0" y="18000"/>
                  </a:cubicBezTo>
                  <a:close/>
                </a:path>
              </a:pathLst>
            </a:custGeom>
            <a:solidFill>
              <a:srgbClr val="EEF4FC"/>
            </a:solidFill>
            <a:ln w="14299" cmpd="sng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202" name="矩形"/>
          <p:cNvSpPr>
            <a:spLocks/>
          </p:cNvSpPr>
          <p:nvPr/>
        </p:nvSpPr>
        <p:spPr>
          <a:xfrm rot="0">
            <a:off x="4936969" y="4221728"/>
            <a:ext cx="10441600" cy="48200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21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NLP + Large Language Model</a:t>
            </a:r>
            <a:endParaRPr lang="zh-CN" altLang="en-US" sz="180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203" name="直线"/>
          <p:cNvSpPr>
            <a:spLocks/>
          </p:cNvSpPr>
          <p:nvPr/>
        </p:nvSpPr>
        <p:spPr>
          <a:xfrm rot="5080260">
            <a:off x="2677353" y="5035048"/>
            <a:ext cx="410528" cy="0"/>
          </a:xfrm>
          <a:prstGeom prst="line"/>
          <a:noFill/>
          <a:ln w="19050" cmpd="sng" cap="rnd">
            <a:solidFill>
              <a:srgbClr val="366FC4"/>
            </a:solidFill>
            <a:prstDash val="solid"/>
            <a:round/>
          </a:ln>
        </p:spPr>
      </p:sp>
      <p:grpSp>
        <p:nvGrpSpPr>
          <p:cNvPr id="205" name="组合"/>
          <p:cNvGrpSpPr>
            <a:grpSpLocks/>
          </p:cNvGrpSpPr>
          <p:nvPr/>
        </p:nvGrpSpPr>
        <p:grpSpPr>
          <a:xfrm>
            <a:off x="1365523" y="5222729"/>
            <a:ext cx="3034188" cy="769239"/>
            <a:chOff x="1365523" y="5222729"/>
            <a:chExt cx="3034188" cy="769239"/>
          </a:xfrm>
        </p:grpSpPr>
        <p:sp>
          <p:nvSpPr>
            <p:cNvPr id="204" name="曲线"/>
            <p:cNvSpPr>
              <a:spLocks/>
            </p:cNvSpPr>
            <p:nvPr/>
          </p:nvSpPr>
          <p:spPr>
            <a:xfrm rot="0">
              <a:off x="1365523" y="5222729"/>
              <a:ext cx="3034188" cy="76923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599"/>
                  </a:moveTo>
                  <a:cubicBezTo>
                    <a:pt x="0" y="1612"/>
                    <a:pt x="408" y="0"/>
                    <a:pt x="912" y="0"/>
                  </a:cubicBezTo>
                  <a:lnTo>
                    <a:pt x="20687" y="0"/>
                  </a:lnTo>
                  <a:cubicBezTo>
                    <a:pt x="21191" y="0"/>
                    <a:pt x="21600" y="1612"/>
                    <a:pt x="21600" y="3599"/>
                  </a:cubicBezTo>
                  <a:lnTo>
                    <a:pt x="21600" y="18000"/>
                  </a:lnTo>
                  <a:cubicBezTo>
                    <a:pt x="21600" y="19987"/>
                    <a:pt x="21191" y="21600"/>
                    <a:pt x="20687" y="21600"/>
                  </a:cubicBezTo>
                  <a:lnTo>
                    <a:pt x="912" y="21600"/>
                  </a:lnTo>
                  <a:cubicBezTo>
                    <a:pt x="408" y="21600"/>
                    <a:pt x="0" y="19989"/>
                    <a:pt x="0" y="18000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206" name="矩形"/>
          <p:cNvSpPr>
            <a:spLocks/>
          </p:cNvSpPr>
          <p:nvPr/>
        </p:nvSpPr>
        <p:spPr>
          <a:xfrm rot="0">
            <a:off x="1573930" y="5347316"/>
            <a:ext cx="2617375" cy="48200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21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Database</a:t>
            </a:r>
            <a:endParaRPr lang="zh-CN" altLang="en-US" sz="180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grpSp>
        <p:nvGrpSpPr>
          <p:cNvPr id="208" name="组合"/>
          <p:cNvGrpSpPr>
            <a:grpSpLocks/>
          </p:cNvGrpSpPr>
          <p:nvPr/>
        </p:nvGrpSpPr>
        <p:grpSpPr>
          <a:xfrm>
            <a:off x="4728572" y="5222729"/>
            <a:ext cx="10858404" cy="769239"/>
            <a:chOff x="4728572" y="5222729"/>
            <a:chExt cx="10858404" cy="769239"/>
          </a:xfrm>
        </p:grpSpPr>
        <p:sp>
          <p:nvSpPr>
            <p:cNvPr id="207" name="曲线"/>
            <p:cNvSpPr>
              <a:spLocks/>
            </p:cNvSpPr>
            <p:nvPr/>
          </p:nvSpPr>
          <p:spPr>
            <a:xfrm rot="0">
              <a:off x="4728572" y="5222729"/>
              <a:ext cx="10858404" cy="76923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599"/>
                  </a:moveTo>
                  <a:cubicBezTo>
                    <a:pt x="0" y="1612"/>
                    <a:pt x="114" y="0"/>
                    <a:pt x="255" y="0"/>
                  </a:cubicBezTo>
                  <a:lnTo>
                    <a:pt x="21344" y="0"/>
                  </a:lnTo>
                  <a:cubicBezTo>
                    <a:pt x="21485" y="0"/>
                    <a:pt x="21600" y="1612"/>
                    <a:pt x="21600" y="3599"/>
                  </a:cubicBezTo>
                  <a:lnTo>
                    <a:pt x="21600" y="18000"/>
                  </a:lnTo>
                  <a:cubicBezTo>
                    <a:pt x="21600" y="19987"/>
                    <a:pt x="21485" y="21600"/>
                    <a:pt x="21344" y="21600"/>
                  </a:cubicBezTo>
                  <a:lnTo>
                    <a:pt x="255" y="21600"/>
                  </a:lnTo>
                  <a:cubicBezTo>
                    <a:pt x="114" y="21600"/>
                    <a:pt x="0" y="19989"/>
                    <a:pt x="0" y="18000"/>
                  </a:cubicBezTo>
                  <a:close/>
                </a:path>
              </a:pathLst>
            </a:custGeom>
            <a:solidFill>
              <a:srgbClr val="EEF4FC"/>
            </a:solidFill>
            <a:ln w="14299" cmpd="sng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209" name="矩形"/>
          <p:cNvSpPr>
            <a:spLocks/>
          </p:cNvSpPr>
          <p:nvPr/>
        </p:nvSpPr>
        <p:spPr>
          <a:xfrm rot="0">
            <a:off x="4936969" y="5347316"/>
            <a:ext cx="10441600" cy="48200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21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MySQL / MongoDB</a:t>
            </a:r>
            <a:endParaRPr lang="zh-CN" altLang="en-US" sz="180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210" name="直线"/>
          <p:cNvSpPr>
            <a:spLocks/>
          </p:cNvSpPr>
          <p:nvPr/>
        </p:nvSpPr>
        <p:spPr>
          <a:xfrm rot="5080260">
            <a:off x="2677353" y="6160637"/>
            <a:ext cx="410528" cy="0"/>
          </a:xfrm>
          <a:prstGeom prst="line"/>
          <a:noFill/>
          <a:ln w="19050" cmpd="sng" cap="rnd">
            <a:solidFill>
              <a:srgbClr val="366FC4"/>
            </a:solidFill>
            <a:prstDash val="solid"/>
            <a:round/>
          </a:ln>
        </p:spPr>
      </p:sp>
      <p:grpSp>
        <p:nvGrpSpPr>
          <p:cNvPr id="212" name="组合"/>
          <p:cNvGrpSpPr>
            <a:grpSpLocks/>
          </p:cNvGrpSpPr>
          <p:nvPr/>
        </p:nvGrpSpPr>
        <p:grpSpPr>
          <a:xfrm>
            <a:off x="1365523" y="6348327"/>
            <a:ext cx="3034188" cy="769239"/>
            <a:chOff x="1365523" y="6348327"/>
            <a:chExt cx="3034188" cy="769239"/>
          </a:xfrm>
        </p:grpSpPr>
        <p:sp>
          <p:nvSpPr>
            <p:cNvPr id="211" name="曲线"/>
            <p:cNvSpPr>
              <a:spLocks/>
            </p:cNvSpPr>
            <p:nvPr/>
          </p:nvSpPr>
          <p:spPr>
            <a:xfrm rot="0">
              <a:off x="1365523" y="6348327"/>
              <a:ext cx="3034188" cy="76923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599"/>
                  </a:moveTo>
                  <a:cubicBezTo>
                    <a:pt x="0" y="1612"/>
                    <a:pt x="408" y="0"/>
                    <a:pt x="912" y="0"/>
                  </a:cubicBezTo>
                  <a:lnTo>
                    <a:pt x="20687" y="0"/>
                  </a:lnTo>
                  <a:cubicBezTo>
                    <a:pt x="21191" y="0"/>
                    <a:pt x="21600" y="1612"/>
                    <a:pt x="21600" y="3599"/>
                  </a:cubicBezTo>
                  <a:lnTo>
                    <a:pt x="21600" y="18000"/>
                  </a:lnTo>
                  <a:cubicBezTo>
                    <a:pt x="21600" y="19987"/>
                    <a:pt x="21191" y="21600"/>
                    <a:pt x="20687" y="21600"/>
                  </a:cubicBezTo>
                  <a:lnTo>
                    <a:pt x="912" y="21600"/>
                  </a:lnTo>
                  <a:cubicBezTo>
                    <a:pt x="408" y="21600"/>
                    <a:pt x="0" y="19989"/>
                    <a:pt x="0" y="18000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213" name="矩形"/>
          <p:cNvSpPr>
            <a:spLocks/>
          </p:cNvSpPr>
          <p:nvPr/>
        </p:nvSpPr>
        <p:spPr>
          <a:xfrm rot="0">
            <a:off x="1573930" y="6472904"/>
            <a:ext cx="2617375" cy="48200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21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Document Output</a:t>
            </a:r>
            <a:endParaRPr lang="zh-CN" altLang="en-US" sz="180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grpSp>
        <p:nvGrpSpPr>
          <p:cNvPr id="215" name="组合"/>
          <p:cNvGrpSpPr>
            <a:grpSpLocks/>
          </p:cNvGrpSpPr>
          <p:nvPr/>
        </p:nvGrpSpPr>
        <p:grpSpPr>
          <a:xfrm>
            <a:off x="4728572" y="6348327"/>
            <a:ext cx="10858404" cy="769239"/>
            <a:chOff x="4728572" y="6348327"/>
            <a:chExt cx="10858404" cy="769239"/>
          </a:xfrm>
        </p:grpSpPr>
        <p:sp>
          <p:nvSpPr>
            <p:cNvPr id="214" name="曲线"/>
            <p:cNvSpPr>
              <a:spLocks/>
            </p:cNvSpPr>
            <p:nvPr/>
          </p:nvSpPr>
          <p:spPr>
            <a:xfrm rot="0">
              <a:off x="4728572" y="6348327"/>
              <a:ext cx="10858404" cy="76923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599"/>
                  </a:moveTo>
                  <a:cubicBezTo>
                    <a:pt x="0" y="1612"/>
                    <a:pt x="114" y="0"/>
                    <a:pt x="255" y="0"/>
                  </a:cubicBezTo>
                  <a:lnTo>
                    <a:pt x="21344" y="0"/>
                  </a:lnTo>
                  <a:cubicBezTo>
                    <a:pt x="21485" y="0"/>
                    <a:pt x="21600" y="1612"/>
                    <a:pt x="21600" y="3599"/>
                  </a:cubicBezTo>
                  <a:lnTo>
                    <a:pt x="21600" y="18000"/>
                  </a:lnTo>
                  <a:cubicBezTo>
                    <a:pt x="21600" y="19987"/>
                    <a:pt x="21485" y="21600"/>
                    <a:pt x="21344" y="21600"/>
                  </a:cubicBezTo>
                  <a:lnTo>
                    <a:pt x="255" y="21600"/>
                  </a:lnTo>
                  <a:cubicBezTo>
                    <a:pt x="114" y="21600"/>
                    <a:pt x="0" y="19989"/>
                    <a:pt x="0" y="18000"/>
                  </a:cubicBezTo>
                  <a:close/>
                </a:path>
              </a:pathLst>
            </a:custGeom>
            <a:solidFill>
              <a:srgbClr val="EEF4FC"/>
            </a:solidFill>
            <a:ln w="14299" cmpd="sng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216" name="矩形"/>
          <p:cNvSpPr>
            <a:spLocks/>
          </p:cNvSpPr>
          <p:nvPr/>
        </p:nvSpPr>
        <p:spPr>
          <a:xfrm rot="0">
            <a:off x="4936969" y="6472904"/>
            <a:ext cx="10441600" cy="48200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21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PDF / DOCX generation</a:t>
            </a:r>
            <a:endParaRPr lang="zh-CN" altLang="en-US" sz="180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217" name="直线"/>
          <p:cNvSpPr>
            <a:spLocks/>
          </p:cNvSpPr>
          <p:nvPr/>
        </p:nvSpPr>
        <p:spPr>
          <a:xfrm rot="5080260">
            <a:off x="2677353" y="7286225"/>
            <a:ext cx="410528" cy="0"/>
          </a:xfrm>
          <a:prstGeom prst="line"/>
          <a:noFill/>
          <a:ln w="19050" cmpd="sng" cap="rnd">
            <a:solidFill>
              <a:srgbClr val="366FC4"/>
            </a:solidFill>
            <a:prstDash val="solid"/>
            <a:round/>
          </a:ln>
        </p:spPr>
      </p:sp>
      <p:grpSp>
        <p:nvGrpSpPr>
          <p:cNvPr id="219" name="组合"/>
          <p:cNvGrpSpPr>
            <a:grpSpLocks/>
          </p:cNvGrpSpPr>
          <p:nvPr/>
        </p:nvGrpSpPr>
        <p:grpSpPr>
          <a:xfrm>
            <a:off x="1365523" y="7473915"/>
            <a:ext cx="3034188" cy="769239"/>
            <a:chOff x="1365523" y="7473915"/>
            <a:chExt cx="3034188" cy="769239"/>
          </a:xfrm>
        </p:grpSpPr>
        <p:sp>
          <p:nvSpPr>
            <p:cNvPr id="218" name="曲线"/>
            <p:cNvSpPr>
              <a:spLocks/>
            </p:cNvSpPr>
            <p:nvPr/>
          </p:nvSpPr>
          <p:spPr>
            <a:xfrm rot="0">
              <a:off x="1365523" y="7473915"/>
              <a:ext cx="3034188" cy="76923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599"/>
                  </a:moveTo>
                  <a:cubicBezTo>
                    <a:pt x="0" y="1612"/>
                    <a:pt x="408" y="0"/>
                    <a:pt x="912" y="0"/>
                  </a:cubicBezTo>
                  <a:lnTo>
                    <a:pt x="20687" y="0"/>
                  </a:lnTo>
                  <a:cubicBezTo>
                    <a:pt x="21191" y="0"/>
                    <a:pt x="21600" y="1612"/>
                    <a:pt x="21600" y="3599"/>
                  </a:cubicBezTo>
                  <a:lnTo>
                    <a:pt x="21600" y="18000"/>
                  </a:lnTo>
                  <a:cubicBezTo>
                    <a:pt x="21600" y="19987"/>
                    <a:pt x="21191" y="21600"/>
                    <a:pt x="20687" y="21600"/>
                  </a:cubicBezTo>
                  <a:lnTo>
                    <a:pt x="912" y="21600"/>
                  </a:lnTo>
                  <a:cubicBezTo>
                    <a:pt x="408" y="21600"/>
                    <a:pt x="0" y="19989"/>
                    <a:pt x="0" y="18000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220" name="矩形"/>
          <p:cNvSpPr>
            <a:spLocks/>
          </p:cNvSpPr>
          <p:nvPr/>
        </p:nvSpPr>
        <p:spPr>
          <a:xfrm rot="0">
            <a:off x="1573930" y="7598493"/>
            <a:ext cx="2617375" cy="48200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21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Security</a:t>
            </a:r>
            <a:endParaRPr lang="zh-CN" altLang="en-US" sz="180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grpSp>
        <p:nvGrpSpPr>
          <p:cNvPr id="222" name="组合"/>
          <p:cNvGrpSpPr>
            <a:grpSpLocks/>
          </p:cNvGrpSpPr>
          <p:nvPr/>
        </p:nvGrpSpPr>
        <p:grpSpPr>
          <a:xfrm>
            <a:off x="4728572" y="7473915"/>
            <a:ext cx="10858404" cy="769239"/>
            <a:chOff x="4728572" y="7473915"/>
            <a:chExt cx="10858404" cy="769239"/>
          </a:xfrm>
        </p:grpSpPr>
        <p:sp>
          <p:nvSpPr>
            <p:cNvPr id="221" name="曲线"/>
            <p:cNvSpPr>
              <a:spLocks/>
            </p:cNvSpPr>
            <p:nvPr/>
          </p:nvSpPr>
          <p:spPr>
            <a:xfrm rot="0">
              <a:off x="4728572" y="7473915"/>
              <a:ext cx="10858404" cy="76923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599"/>
                  </a:moveTo>
                  <a:cubicBezTo>
                    <a:pt x="0" y="1612"/>
                    <a:pt x="114" y="0"/>
                    <a:pt x="255" y="0"/>
                  </a:cubicBezTo>
                  <a:lnTo>
                    <a:pt x="21344" y="0"/>
                  </a:lnTo>
                  <a:cubicBezTo>
                    <a:pt x="21485" y="0"/>
                    <a:pt x="21600" y="1612"/>
                    <a:pt x="21600" y="3599"/>
                  </a:cubicBezTo>
                  <a:lnTo>
                    <a:pt x="21600" y="18000"/>
                  </a:lnTo>
                  <a:cubicBezTo>
                    <a:pt x="21600" y="19987"/>
                    <a:pt x="21485" y="21600"/>
                    <a:pt x="21344" y="21600"/>
                  </a:cubicBezTo>
                  <a:lnTo>
                    <a:pt x="255" y="21600"/>
                  </a:lnTo>
                  <a:cubicBezTo>
                    <a:pt x="114" y="21600"/>
                    <a:pt x="0" y="19989"/>
                    <a:pt x="0" y="18000"/>
                  </a:cubicBezTo>
                  <a:close/>
                </a:path>
              </a:pathLst>
            </a:custGeom>
            <a:solidFill>
              <a:srgbClr val="EEF4FC"/>
            </a:solidFill>
            <a:ln w="14299" cmpd="sng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223" name="矩形"/>
          <p:cNvSpPr>
            <a:spLocks/>
          </p:cNvSpPr>
          <p:nvPr/>
        </p:nvSpPr>
        <p:spPr>
          <a:xfrm rot="0">
            <a:off x="4936969" y="7598493"/>
            <a:ext cx="10441600" cy="48200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21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Authentication + access control</a:t>
            </a:r>
            <a:endParaRPr lang="zh-CN" altLang="en-US" sz="180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224" name="矩形"/>
          <p:cNvSpPr>
            <a:spLocks/>
          </p:cNvSpPr>
          <p:nvPr/>
        </p:nvSpPr>
        <p:spPr>
          <a:xfrm rot="0">
            <a:off x="16426244" y="9694488"/>
            <a:ext cx="640727" cy="21167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r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51" b="0" i="0" u="none" strike="noStrike" kern="1200" cap="none" spc="0" baseline="0">
                <a:solidFill>
                  <a:srgbClr val="525C6C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7</a:t>
            </a:r>
            <a:endParaRPr lang="zh-CN" altLang="en-US" sz="1351" b="0" i="0" u="none" strike="noStrike" kern="1200" cap="none" spc="0" baseline="0">
              <a:solidFill>
                <a:srgbClr val="525C6C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8470669"/>
      </p:ext>
    </p:extLst>
  </p:cSld>
  <p:clrMapOvr>
    <a:masterClrMapping/>
  </p:clrMapOvr>
</p:sld>
</file>

<file path=ppt/slides/slide9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6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矩形"/>
          <p:cNvSpPr>
            <a:spLocks/>
          </p:cNvSpPr>
          <p:nvPr/>
        </p:nvSpPr>
        <p:spPr>
          <a:xfrm rot="0">
            <a:off x="846410" y="344348"/>
            <a:ext cx="12033904" cy="74925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50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203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7. Advantages</a:t>
            </a:r>
            <a:endParaRPr lang="zh-CN" altLang="en-US" sz="4203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226" name="矩形"/>
          <p:cNvSpPr>
            <a:spLocks/>
          </p:cNvSpPr>
          <p:nvPr/>
        </p:nvSpPr>
        <p:spPr>
          <a:xfrm rot="0">
            <a:off x="887587" y="1188120"/>
            <a:ext cx="13269306" cy="49572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1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1" b="0" i="0" u="none" strike="noStrike" kern="1200" cap="none" spc="0" baseline="0">
                <a:solidFill>
                  <a:srgbClr val="525C6C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Potential benefits</a:t>
            </a:r>
            <a:endParaRPr lang="zh-CN" altLang="en-US" sz="1801" b="0" i="0" u="none" strike="noStrike" kern="1200" cap="none" spc="0" baseline="0">
              <a:solidFill>
                <a:srgbClr val="525C6C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</p:txBody>
      </p:sp>
      <p:grpSp>
        <p:nvGrpSpPr>
          <p:cNvPr id="228" name="组合"/>
          <p:cNvGrpSpPr>
            <a:grpSpLocks/>
          </p:cNvGrpSpPr>
          <p:nvPr/>
        </p:nvGrpSpPr>
        <p:grpSpPr>
          <a:xfrm>
            <a:off x="1022356" y="1914592"/>
            <a:ext cx="7632667" cy="1798890"/>
            <a:chOff x="1022356" y="1914592"/>
            <a:chExt cx="7632667" cy="1798890"/>
          </a:xfrm>
        </p:grpSpPr>
        <p:sp>
          <p:nvSpPr>
            <p:cNvPr id="227" name="曲线"/>
            <p:cNvSpPr>
              <a:spLocks/>
            </p:cNvSpPr>
            <p:nvPr/>
          </p:nvSpPr>
          <p:spPr>
            <a:xfrm rot="0">
              <a:off x="1022356" y="1914592"/>
              <a:ext cx="7632667" cy="1798890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600"/>
                  </a:moveTo>
                  <a:cubicBezTo>
                    <a:pt x="0" y="1611"/>
                    <a:pt x="379" y="0"/>
                    <a:pt x="848" y="0"/>
                  </a:cubicBezTo>
                  <a:lnTo>
                    <a:pt x="20751" y="0"/>
                  </a:lnTo>
                  <a:cubicBezTo>
                    <a:pt x="21219" y="0"/>
                    <a:pt x="21600" y="1611"/>
                    <a:pt x="21600" y="3600"/>
                  </a:cubicBezTo>
                  <a:lnTo>
                    <a:pt x="21600" y="17999"/>
                  </a:lnTo>
                  <a:cubicBezTo>
                    <a:pt x="21600" y="19987"/>
                    <a:pt x="21220" y="21600"/>
                    <a:pt x="20751" y="21600"/>
                  </a:cubicBezTo>
                  <a:lnTo>
                    <a:pt x="848" y="21600"/>
                  </a:lnTo>
                  <a:cubicBezTo>
                    <a:pt x="379" y="21598"/>
                    <a:pt x="0" y="19987"/>
                    <a:pt x="0" y="17998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id="230" name="组合"/>
          <p:cNvGrpSpPr>
            <a:grpSpLocks/>
          </p:cNvGrpSpPr>
          <p:nvPr/>
        </p:nvGrpSpPr>
        <p:grpSpPr>
          <a:xfrm>
            <a:off x="1029500" y="1921744"/>
            <a:ext cx="109823" cy="1784509"/>
            <a:chOff x="1029500" y="1921744"/>
            <a:chExt cx="109823" cy="1784509"/>
          </a:xfrm>
        </p:grpSpPr>
        <p:sp>
          <p:nvSpPr>
            <p:cNvPr id="229" name="曲线"/>
            <p:cNvSpPr>
              <a:spLocks/>
            </p:cNvSpPr>
            <p:nvPr/>
          </p:nvSpPr>
          <p:spPr>
            <a:xfrm rot="0">
              <a:off x="1029500" y="1921744"/>
              <a:ext cx="109823" cy="178450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366FC4"/>
            </a:solidFill>
            <a:ln cmpd="sng" cap="flat">
              <a:noFill/>
              <a:prstDash val="solid"/>
              <a:miter/>
            </a:ln>
          </p:spPr>
        </p:sp>
      </p:grpSp>
      <p:sp>
        <p:nvSpPr>
          <p:cNvPr id="231" name="矩形"/>
          <p:cNvSpPr>
            <a:spLocks/>
          </p:cNvSpPr>
          <p:nvPr/>
        </p:nvSpPr>
        <p:spPr>
          <a:xfrm rot="0">
            <a:off x="1464116" y="2129933"/>
            <a:ext cx="6817747" cy="51477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7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5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Faster</a:t>
            </a:r>
            <a:endParaRPr lang="zh-CN" altLang="en-US" sz="225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232" name="矩形"/>
          <p:cNvSpPr>
            <a:spLocks/>
          </p:cNvSpPr>
          <p:nvPr/>
        </p:nvSpPr>
        <p:spPr>
          <a:xfrm rot="0">
            <a:off x="1464116" y="2780413"/>
            <a:ext cx="6817747" cy="70163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26" b="0" i="0" u="none" strike="noStrike" kern="1200" cap="none" spc="0" baseline="0">
                <a:solidFill>
                  <a:srgbClr val="525C6C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Reduces repetitive drafting work.</a:t>
            </a:r>
            <a:endParaRPr lang="zh-CN" altLang="en-US" sz="1726" b="0" i="0" u="none" strike="noStrike" kern="1200" cap="none" spc="0" baseline="0">
              <a:solidFill>
                <a:srgbClr val="525C6C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</p:txBody>
      </p:sp>
      <p:grpSp>
        <p:nvGrpSpPr>
          <p:cNvPr id="234" name="组合"/>
          <p:cNvGrpSpPr>
            <a:grpSpLocks/>
          </p:cNvGrpSpPr>
          <p:nvPr/>
        </p:nvGrpSpPr>
        <p:grpSpPr>
          <a:xfrm>
            <a:off x="9464288" y="1914592"/>
            <a:ext cx="7632667" cy="1798890"/>
            <a:chOff x="9464288" y="1914592"/>
            <a:chExt cx="7632667" cy="1798890"/>
          </a:xfrm>
        </p:grpSpPr>
        <p:sp>
          <p:nvSpPr>
            <p:cNvPr id="233" name="曲线"/>
            <p:cNvSpPr>
              <a:spLocks/>
            </p:cNvSpPr>
            <p:nvPr/>
          </p:nvSpPr>
          <p:spPr>
            <a:xfrm rot="0">
              <a:off x="9464288" y="1914592"/>
              <a:ext cx="7632667" cy="1798890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600"/>
                  </a:moveTo>
                  <a:cubicBezTo>
                    <a:pt x="0" y="1611"/>
                    <a:pt x="379" y="0"/>
                    <a:pt x="848" y="0"/>
                  </a:cubicBezTo>
                  <a:lnTo>
                    <a:pt x="20751" y="0"/>
                  </a:lnTo>
                  <a:cubicBezTo>
                    <a:pt x="21219" y="0"/>
                    <a:pt x="21600" y="1611"/>
                    <a:pt x="21600" y="3600"/>
                  </a:cubicBezTo>
                  <a:lnTo>
                    <a:pt x="21600" y="17999"/>
                  </a:lnTo>
                  <a:cubicBezTo>
                    <a:pt x="21600" y="19987"/>
                    <a:pt x="21220" y="21600"/>
                    <a:pt x="20751" y="21600"/>
                  </a:cubicBezTo>
                  <a:lnTo>
                    <a:pt x="848" y="21600"/>
                  </a:lnTo>
                  <a:cubicBezTo>
                    <a:pt x="379" y="21598"/>
                    <a:pt x="0" y="19987"/>
                    <a:pt x="0" y="17998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id="236" name="组合"/>
          <p:cNvGrpSpPr>
            <a:grpSpLocks/>
          </p:cNvGrpSpPr>
          <p:nvPr/>
        </p:nvGrpSpPr>
        <p:grpSpPr>
          <a:xfrm>
            <a:off x="9471441" y="1921744"/>
            <a:ext cx="109823" cy="1784509"/>
            <a:chOff x="9471441" y="1921744"/>
            <a:chExt cx="109823" cy="1784509"/>
          </a:xfrm>
        </p:grpSpPr>
        <p:sp>
          <p:nvSpPr>
            <p:cNvPr id="235" name="曲线"/>
            <p:cNvSpPr>
              <a:spLocks/>
            </p:cNvSpPr>
            <p:nvPr/>
          </p:nvSpPr>
          <p:spPr>
            <a:xfrm rot="0">
              <a:off x="9471441" y="1921744"/>
              <a:ext cx="109823" cy="178450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269D91"/>
            </a:solidFill>
            <a:ln cmpd="sng" cap="flat">
              <a:noFill/>
              <a:prstDash val="solid"/>
              <a:miter/>
            </a:ln>
          </p:spPr>
        </p:sp>
      </p:grpSp>
      <p:sp>
        <p:nvSpPr>
          <p:cNvPr id="237" name="矩形"/>
          <p:cNvSpPr>
            <a:spLocks/>
          </p:cNvSpPr>
          <p:nvPr/>
        </p:nvSpPr>
        <p:spPr>
          <a:xfrm rot="0">
            <a:off x="9906048" y="2129933"/>
            <a:ext cx="6817747" cy="51477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7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5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Accessible</a:t>
            </a:r>
            <a:endParaRPr lang="zh-CN" altLang="en-US" sz="225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238" name="矩形"/>
          <p:cNvSpPr>
            <a:spLocks/>
          </p:cNvSpPr>
          <p:nvPr/>
        </p:nvSpPr>
        <p:spPr>
          <a:xfrm rot="0">
            <a:off x="9906048" y="2780413"/>
            <a:ext cx="6817747" cy="70163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26" b="0" i="0" u="none" strike="noStrike" kern="1200" cap="none" spc="0" baseline="0">
                <a:solidFill>
                  <a:srgbClr val="525C6C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Makes basic drafting easier to approach.</a:t>
            </a:r>
            <a:endParaRPr lang="zh-CN" altLang="en-US" sz="1726" b="0" i="0" u="none" strike="noStrike" kern="1200" cap="none" spc="0" baseline="0">
              <a:solidFill>
                <a:srgbClr val="525C6C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</p:txBody>
      </p:sp>
      <p:grpSp>
        <p:nvGrpSpPr>
          <p:cNvPr id="240" name="组合"/>
          <p:cNvGrpSpPr>
            <a:grpSpLocks/>
          </p:cNvGrpSpPr>
          <p:nvPr/>
        </p:nvGrpSpPr>
        <p:grpSpPr>
          <a:xfrm>
            <a:off x="1022356" y="4248131"/>
            <a:ext cx="7632667" cy="1798890"/>
            <a:chOff x="1022356" y="4248131"/>
            <a:chExt cx="7632667" cy="1798890"/>
          </a:xfrm>
        </p:grpSpPr>
        <p:sp>
          <p:nvSpPr>
            <p:cNvPr id="239" name="曲线"/>
            <p:cNvSpPr>
              <a:spLocks/>
            </p:cNvSpPr>
            <p:nvPr/>
          </p:nvSpPr>
          <p:spPr>
            <a:xfrm rot="0">
              <a:off x="1022356" y="4248131"/>
              <a:ext cx="7632667" cy="1798890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600"/>
                  </a:moveTo>
                  <a:cubicBezTo>
                    <a:pt x="0" y="1611"/>
                    <a:pt x="379" y="0"/>
                    <a:pt x="848" y="0"/>
                  </a:cubicBezTo>
                  <a:lnTo>
                    <a:pt x="20751" y="0"/>
                  </a:lnTo>
                  <a:cubicBezTo>
                    <a:pt x="21219" y="0"/>
                    <a:pt x="21600" y="1611"/>
                    <a:pt x="21600" y="3600"/>
                  </a:cubicBezTo>
                  <a:lnTo>
                    <a:pt x="21600" y="17999"/>
                  </a:lnTo>
                  <a:cubicBezTo>
                    <a:pt x="21600" y="19987"/>
                    <a:pt x="21220" y="21600"/>
                    <a:pt x="20751" y="21600"/>
                  </a:cubicBezTo>
                  <a:lnTo>
                    <a:pt x="848" y="21600"/>
                  </a:lnTo>
                  <a:cubicBezTo>
                    <a:pt x="379" y="21598"/>
                    <a:pt x="0" y="19987"/>
                    <a:pt x="0" y="17998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id="242" name="组合"/>
          <p:cNvGrpSpPr>
            <a:grpSpLocks/>
          </p:cNvGrpSpPr>
          <p:nvPr/>
        </p:nvGrpSpPr>
        <p:grpSpPr>
          <a:xfrm>
            <a:off x="1029500" y="4255284"/>
            <a:ext cx="109823" cy="1784509"/>
            <a:chOff x="1029500" y="4255284"/>
            <a:chExt cx="109823" cy="1784509"/>
          </a:xfrm>
        </p:grpSpPr>
        <p:sp>
          <p:nvSpPr>
            <p:cNvPr id="241" name="曲线"/>
            <p:cNvSpPr>
              <a:spLocks/>
            </p:cNvSpPr>
            <p:nvPr/>
          </p:nvSpPr>
          <p:spPr>
            <a:xfrm rot="0">
              <a:off x="1029500" y="4255284"/>
              <a:ext cx="109823" cy="178450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162D4E"/>
            </a:solidFill>
            <a:ln cmpd="sng" cap="flat">
              <a:noFill/>
              <a:prstDash val="solid"/>
              <a:miter/>
            </a:ln>
          </p:spPr>
        </p:sp>
      </p:grpSp>
      <p:sp>
        <p:nvSpPr>
          <p:cNvPr id="243" name="矩形"/>
          <p:cNvSpPr>
            <a:spLocks/>
          </p:cNvSpPr>
          <p:nvPr/>
        </p:nvSpPr>
        <p:spPr>
          <a:xfrm rot="0">
            <a:off x="1464116" y="4463482"/>
            <a:ext cx="6817747" cy="51477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7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5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Consistent</a:t>
            </a:r>
            <a:endParaRPr lang="zh-CN" altLang="en-US" sz="225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244" name="矩形"/>
          <p:cNvSpPr>
            <a:spLocks/>
          </p:cNvSpPr>
          <p:nvPr/>
        </p:nvSpPr>
        <p:spPr>
          <a:xfrm rot="0">
            <a:off x="1464116" y="5113963"/>
            <a:ext cx="6817747" cy="70163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26" b="0" i="0" u="none" strike="noStrike" kern="1200" cap="none" spc="0" baseline="0">
                <a:solidFill>
                  <a:srgbClr val="525C6C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Uses structured templates.</a:t>
            </a:r>
            <a:endParaRPr lang="zh-CN" altLang="en-US" sz="1726" b="0" i="0" u="none" strike="noStrike" kern="1200" cap="none" spc="0" baseline="0">
              <a:solidFill>
                <a:srgbClr val="525C6C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</p:txBody>
      </p:sp>
      <p:grpSp>
        <p:nvGrpSpPr>
          <p:cNvPr id="246" name="组合"/>
          <p:cNvGrpSpPr>
            <a:grpSpLocks/>
          </p:cNvGrpSpPr>
          <p:nvPr/>
        </p:nvGrpSpPr>
        <p:grpSpPr>
          <a:xfrm>
            <a:off x="9464288" y="4248131"/>
            <a:ext cx="7632667" cy="1798890"/>
            <a:chOff x="9464288" y="4248131"/>
            <a:chExt cx="7632667" cy="1798890"/>
          </a:xfrm>
        </p:grpSpPr>
        <p:sp>
          <p:nvSpPr>
            <p:cNvPr id="245" name="曲线"/>
            <p:cNvSpPr>
              <a:spLocks/>
            </p:cNvSpPr>
            <p:nvPr/>
          </p:nvSpPr>
          <p:spPr>
            <a:xfrm rot="0">
              <a:off x="9464288" y="4248131"/>
              <a:ext cx="7632667" cy="1798890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600"/>
                  </a:moveTo>
                  <a:cubicBezTo>
                    <a:pt x="0" y="1611"/>
                    <a:pt x="379" y="0"/>
                    <a:pt x="848" y="0"/>
                  </a:cubicBezTo>
                  <a:lnTo>
                    <a:pt x="20751" y="0"/>
                  </a:lnTo>
                  <a:cubicBezTo>
                    <a:pt x="21219" y="0"/>
                    <a:pt x="21600" y="1611"/>
                    <a:pt x="21600" y="3600"/>
                  </a:cubicBezTo>
                  <a:lnTo>
                    <a:pt x="21600" y="17999"/>
                  </a:lnTo>
                  <a:cubicBezTo>
                    <a:pt x="21600" y="19987"/>
                    <a:pt x="21220" y="21600"/>
                    <a:pt x="20751" y="21600"/>
                  </a:cubicBezTo>
                  <a:lnTo>
                    <a:pt x="848" y="21600"/>
                  </a:lnTo>
                  <a:cubicBezTo>
                    <a:pt x="379" y="21598"/>
                    <a:pt x="0" y="19987"/>
                    <a:pt x="0" y="17998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id="248" name="组合"/>
          <p:cNvGrpSpPr>
            <a:grpSpLocks/>
          </p:cNvGrpSpPr>
          <p:nvPr/>
        </p:nvGrpSpPr>
        <p:grpSpPr>
          <a:xfrm>
            <a:off x="9471441" y="4255284"/>
            <a:ext cx="109823" cy="1784509"/>
            <a:chOff x="9471441" y="4255284"/>
            <a:chExt cx="109823" cy="1784509"/>
          </a:xfrm>
        </p:grpSpPr>
        <p:sp>
          <p:nvSpPr>
            <p:cNvPr id="247" name="曲线"/>
            <p:cNvSpPr>
              <a:spLocks/>
            </p:cNvSpPr>
            <p:nvPr/>
          </p:nvSpPr>
          <p:spPr>
            <a:xfrm rot="0">
              <a:off x="9471441" y="4255284"/>
              <a:ext cx="109823" cy="178450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366FC4"/>
            </a:solidFill>
            <a:ln cmpd="sng" cap="flat">
              <a:noFill/>
              <a:prstDash val="solid"/>
              <a:miter/>
            </a:ln>
          </p:spPr>
        </p:sp>
      </p:grpSp>
      <p:sp>
        <p:nvSpPr>
          <p:cNvPr id="249" name="矩形"/>
          <p:cNvSpPr>
            <a:spLocks/>
          </p:cNvSpPr>
          <p:nvPr/>
        </p:nvSpPr>
        <p:spPr>
          <a:xfrm rot="0">
            <a:off x="9906048" y="4463482"/>
            <a:ext cx="6817747" cy="51477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7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5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Convenient</a:t>
            </a:r>
            <a:endParaRPr lang="zh-CN" altLang="en-US" sz="225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250" name="矩形"/>
          <p:cNvSpPr>
            <a:spLocks/>
          </p:cNvSpPr>
          <p:nvPr/>
        </p:nvSpPr>
        <p:spPr>
          <a:xfrm rot="0">
            <a:off x="9906048" y="5113963"/>
            <a:ext cx="6817747" cy="70163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26" b="0" i="0" u="none" strike="noStrike" kern="1200" cap="none" spc="0" baseline="0">
                <a:solidFill>
                  <a:srgbClr val="525C6C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Supports editing and export.</a:t>
            </a:r>
            <a:endParaRPr lang="zh-CN" altLang="en-US" sz="1726" b="0" i="0" u="none" strike="noStrike" kern="1200" cap="none" spc="0" baseline="0">
              <a:solidFill>
                <a:srgbClr val="525C6C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</p:txBody>
      </p:sp>
      <p:grpSp>
        <p:nvGrpSpPr>
          <p:cNvPr id="252" name="组合"/>
          <p:cNvGrpSpPr>
            <a:grpSpLocks/>
          </p:cNvGrpSpPr>
          <p:nvPr/>
        </p:nvGrpSpPr>
        <p:grpSpPr>
          <a:xfrm>
            <a:off x="1022356" y="6581679"/>
            <a:ext cx="7632667" cy="1798890"/>
            <a:chOff x="1022356" y="6581679"/>
            <a:chExt cx="7632667" cy="1798890"/>
          </a:xfrm>
        </p:grpSpPr>
        <p:sp>
          <p:nvSpPr>
            <p:cNvPr id="251" name="曲线"/>
            <p:cNvSpPr>
              <a:spLocks/>
            </p:cNvSpPr>
            <p:nvPr/>
          </p:nvSpPr>
          <p:spPr>
            <a:xfrm rot="0">
              <a:off x="1022356" y="6581679"/>
              <a:ext cx="7632667" cy="1798890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600"/>
                  </a:moveTo>
                  <a:cubicBezTo>
                    <a:pt x="0" y="1611"/>
                    <a:pt x="379" y="0"/>
                    <a:pt x="848" y="0"/>
                  </a:cubicBezTo>
                  <a:lnTo>
                    <a:pt x="20751" y="0"/>
                  </a:lnTo>
                  <a:cubicBezTo>
                    <a:pt x="21219" y="0"/>
                    <a:pt x="21600" y="1611"/>
                    <a:pt x="21600" y="3600"/>
                  </a:cubicBezTo>
                  <a:lnTo>
                    <a:pt x="21600" y="17999"/>
                  </a:lnTo>
                  <a:cubicBezTo>
                    <a:pt x="21600" y="19987"/>
                    <a:pt x="21220" y="21600"/>
                    <a:pt x="20751" y="21600"/>
                  </a:cubicBezTo>
                  <a:lnTo>
                    <a:pt x="848" y="21600"/>
                  </a:lnTo>
                  <a:cubicBezTo>
                    <a:pt x="379" y="21598"/>
                    <a:pt x="0" y="19987"/>
                    <a:pt x="0" y="17998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id="254" name="组合"/>
          <p:cNvGrpSpPr>
            <a:grpSpLocks/>
          </p:cNvGrpSpPr>
          <p:nvPr/>
        </p:nvGrpSpPr>
        <p:grpSpPr>
          <a:xfrm>
            <a:off x="1029500" y="6588824"/>
            <a:ext cx="109823" cy="1784509"/>
            <a:chOff x="1029500" y="6588824"/>
            <a:chExt cx="109823" cy="1784509"/>
          </a:xfrm>
        </p:grpSpPr>
        <p:sp>
          <p:nvSpPr>
            <p:cNvPr id="253" name="曲线"/>
            <p:cNvSpPr>
              <a:spLocks/>
            </p:cNvSpPr>
            <p:nvPr/>
          </p:nvSpPr>
          <p:spPr>
            <a:xfrm rot="0">
              <a:off x="1029500" y="6588824"/>
              <a:ext cx="109823" cy="178450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269D91"/>
            </a:solidFill>
            <a:ln cmpd="sng" cap="flat">
              <a:noFill/>
              <a:prstDash val="solid"/>
              <a:miter/>
            </a:ln>
          </p:spPr>
        </p:sp>
      </p:grpSp>
      <p:sp>
        <p:nvSpPr>
          <p:cNvPr id="255" name="矩形"/>
          <p:cNvSpPr>
            <a:spLocks/>
          </p:cNvSpPr>
          <p:nvPr/>
        </p:nvSpPr>
        <p:spPr>
          <a:xfrm rot="0">
            <a:off x="1464116" y="6797021"/>
            <a:ext cx="6817747" cy="51477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7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5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Scalable</a:t>
            </a:r>
            <a:endParaRPr lang="zh-CN" altLang="en-US" sz="225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256" name="矩形"/>
          <p:cNvSpPr>
            <a:spLocks/>
          </p:cNvSpPr>
          <p:nvPr/>
        </p:nvSpPr>
        <p:spPr>
          <a:xfrm rot="0">
            <a:off x="1464116" y="7447502"/>
            <a:ext cx="6817747" cy="70163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26" b="0" i="0" u="none" strike="noStrike" kern="1200" cap="none" spc="0" baseline="0">
                <a:solidFill>
                  <a:srgbClr val="525C6C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New templates can be added.</a:t>
            </a:r>
            <a:endParaRPr lang="zh-CN" altLang="en-US" sz="1726" b="0" i="0" u="none" strike="noStrike" kern="1200" cap="none" spc="0" baseline="0">
              <a:solidFill>
                <a:srgbClr val="525C6C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</p:txBody>
      </p:sp>
      <p:grpSp>
        <p:nvGrpSpPr>
          <p:cNvPr id="258" name="组合"/>
          <p:cNvGrpSpPr>
            <a:grpSpLocks/>
          </p:cNvGrpSpPr>
          <p:nvPr/>
        </p:nvGrpSpPr>
        <p:grpSpPr>
          <a:xfrm>
            <a:off x="9464288" y="6581679"/>
            <a:ext cx="7632667" cy="1798890"/>
            <a:chOff x="9464288" y="6581679"/>
            <a:chExt cx="7632667" cy="1798890"/>
          </a:xfrm>
        </p:grpSpPr>
        <p:sp>
          <p:nvSpPr>
            <p:cNvPr id="257" name="曲线"/>
            <p:cNvSpPr>
              <a:spLocks/>
            </p:cNvSpPr>
            <p:nvPr/>
          </p:nvSpPr>
          <p:spPr>
            <a:xfrm rot="0">
              <a:off x="9464288" y="6581679"/>
              <a:ext cx="7632667" cy="1798890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600"/>
                  </a:moveTo>
                  <a:cubicBezTo>
                    <a:pt x="0" y="1611"/>
                    <a:pt x="379" y="0"/>
                    <a:pt x="848" y="0"/>
                  </a:cubicBezTo>
                  <a:lnTo>
                    <a:pt x="20751" y="0"/>
                  </a:lnTo>
                  <a:cubicBezTo>
                    <a:pt x="21219" y="0"/>
                    <a:pt x="21600" y="1611"/>
                    <a:pt x="21600" y="3600"/>
                  </a:cubicBezTo>
                  <a:lnTo>
                    <a:pt x="21600" y="17999"/>
                  </a:lnTo>
                  <a:cubicBezTo>
                    <a:pt x="21600" y="19987"/>
                    <a:pt x="21220" y="21600"/>
                    <a:pt x="20751" y="21600"/>
                  </a:cubicBezTo>
                  <a:lnTo>
                    <a:pt x="848" y="21600"/>
                  </a:lnTo>
                  <a:cubicBezTo>
                    <a:pt x="379" y="21598"/>
                    <a:pt x="0" y="19987"/>
                    <a:pt x="0" y="17998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id="260" name="组合"/>
          <p:cNvGrpSpPr>
            <a:grpSpLocks/>
          </p:cNvGrpSpPr>
          <p:nvPr/>
        </p:nvGrpSpPr>
        <p:grpSpPr>
          <a:xfrm>
            <a:off x="9471441" y="6588824"/>
            <a:ext cx="109823" cy="1784509"/>
            <a:chOff x="9471441" y="6588824"/>
            <a:chExt cx="109823" cy="1784509"/>
          </a:xfrm>
        </p:grpSpPr>
        <p:sp>
          <p:nvSpPr>
            <p:cNvPr id="259" name="曲线"/>
            <p:cNvSpPr>
              <a:spLocks/>
            </p:cNvSpPr>
            <p:nvPr/>
          </p:nvSpPr>
          <p:spPr>
            <a:xfrm rot="0">
              <a:off x="9471441" y="6588824"/>
              <a:ext cx="109823" cy="178450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162D4E"/>
            </a:solidFill>
            <a:ln cmpd="sng" cap="flat">
              <a:noFill/>
              <a:prstDash val="solid"/>
              <a:miter/>
            </a:ln>
          </p:spPr>
        </p:sp>
      </p:grpSp>
      <p:sp>
        <p:nvSpPr>
          <p:cNvPr id="261" name="矩形"/>
          <p:cNvSpPr>
            <a:spLocks/>
          </p:cNvSpPr>
          <p:nvPr/>
        </p:nvSpPr>
        <p:spPr>
          <a:xfrm rot="0">
            <a:off x="9906048" y="6797021"/>
            <a:ext cx="6817747" cy="51477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7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5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Assistive</a:t>
            </a:r>
            <a:endParaRPr lang="zh-CN" altLang="en-US" sz="225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262" name="矩形"/>
          <p:cNvSpPr>
            <a:spLocks/>
          </p:cNvSpPr>
          <p:nvPr/>
        </p:nvSpPr>
        <p:spPr>
          <a:xfrm rot="0">
            <a:off x="9906048" y="7447502"/>
            <a:ext cx="6817747" cy="70163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26" b="0" i="0" u="none" strike="noStrike" kern="1200" cap="none" spc="0" baseline="0">
                <a:solidFill>
                  <a:srgbClr val="525C6C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Provides a starting draft for review.</a:t>
            </a:r>
            <a:endParaRPr lang="zh-CN" altLang="en-US" sz="1726" b="0" i="0" u="none" strike="noStrike" kern="1200" cap="none" spc="0" baseline="0">
              <a:solidFill>
                <a:srgbClr val="525C6C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</p:txBody>
      </p:sp>
      <p:grpSp>
        <p:nvGrpSpPr>
          <p:cNvPr id="264" name="组合"/>
          <p:cNvGrpSpPr>
            <a:grpSpLocks/>
          </p:cNvGrpSpPr>
          <p:nvPr/>
        </p:nvGrpSpPr>
        <p:grpSpPr>
          <a:xfrm>
            <a:off x="4454033" y="8709317"/>
            <a:ext cx="9348502" cy="769239"/>
            <a:chOff x="4454033" y="8709317"/>
            <a:chExt cx="9348502" cy="769239"/>
          </a:xfrm>
        </p:grpSpPr>
        <p:sp>
          <p:nvSpPr>
            <p:cNvPr id="263" name="曲线"/>
            <p:cNvSpPr>
              <a:spLocks/>
            </p:cNvSpPr>
            <p:nvPr/>
          </p:nvSpPr>
          <p:spPr>
            <a:xfrm rot="0">
              <a:off x="4454033" y="8709317"/>
              <a:ext cx="9348502" cy="76923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599"/>
                  </a:moveTo>
                  <a:cubicBezTo>
                    <a:pt x="0" y="1612"/>
                    <a:pt x="132" y="0"/>
                    <a:pt x="296" y="0"/>
                  </a:cubicBezTo>
                  <a:lnTo>
                    <a:pt x="21303" y="0"/>
                  </a:lnTo>
                  <a:cubicBezTo>
                    <a:pt x="21467" y="0"/>
                    <a:pt x="21600" y="1612"/>
                    <a:pt x="21600" y="3599"/>
                  </a:cubicBezTo>
                  <a:lnTo>
                    <a:pt x="21600" y="18000"/>
                  </a:lnTo>
                  <a:cubicBezTo>
                    <a:pt x="21600" y="19987"/>
                    <a:pt x="21467" y="21600"/>
                    <a:pt x="21303" y="21600"/>
                  </a:cubicBezTo>
                  <a:lnTo>
                    <a:pt x="296" y="21600"/>
                  </a:lnTo>
                  <a:cubicBezTo>
                    <a:pt x="132" y="21600"/>
                    <a:pt x="0" y="19989"/>
                    <a:pt x="0" y="18000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265" name="矩形"/>
          <p:cNvSpPr>
            <a:spLocks/>
          </p:cNvSpPr>
          <p:nvPr/>
        </p:nvSpPr>
        <p:spPr>
          <a:xfrm rot="0">
            <a:off x="4662440" y="8833904"/>
            <a:ext cx="8931669" cy="48200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21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AI ASSISTS — HUMAN REVIEW REMAINS IMPORTANT</a:t>
            </a:r>
            <a:endParaRPr lang="zh-CN" altLang="en-US" sz="180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266" name="矩形"/>
          <p:cNvSpPr>
            <a:spLocks/>
          </p:cNvSpPr>
          <p:nvPr/>
        </p:nvSpPr>
        <p:spPr>
          <a:xfrm rot="0">
            <a:off x="16426244" y="9694488"/>
            <a:ext cx="640727" cy="21167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r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51" b="0" i="0" u="none" strike="noStrike" kern="1200" cap="none" spc="0" baseline="0">
                <a:solidFill>
                  <a:srgbClr val="525C6C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8</a:t>
            </a:r>
            <a:endParaRPr lang="zh-CN" altLang="en-US" sz="1351" b="0" i="0" u="none" strike="noStrike" kern="1200" cap="none" spc="0" baseline="0">
              <a:solidFill>
                <a:srgbClr val="525C6C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0037388"/>
      </p:ext>
    </p:extLst>
  </p:cSld>
  <p:clrMapOvr>
    <a:masterClrMapping/>
  </p:clrMapOvr>
</p:sld>
</file>

<file path=ppt/slides/slide10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6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矩形"/>
          <p:cNvSpPr>
            <a:spLocks/>
          </p:cNvSpPr>
          <p:nvPr/>
        </p:nvSpPr>
        <p:spPr>
          <a:xfrm rot="0">
            <a:off x="846410" y="344348"/>
            <a:ext cx="12033904" cy="74925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50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203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8. Future Scope</a:t>
            </a:r>
            <a:endParaRPr lang="zh-CN" altLang="en-US" sz="4203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268" name="矩形"/>
          <p:cNvSpPr>
            <a:spLocks/>
          </p:cNvSpPr>
          <p:nvPr/>
        </p:nvSpPr>
        <p:spPr>
          <a:xfrm rot="0">
            <a:off x="887587" y="1188120"/>
            <a:ext cx="13269306" cy="49572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1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1" b="0" i="0" u="none" strike="noStrike" kern="1200" cap="none" spc="0" baseline="0">
                <a:solidFill>
                  <a:srgbClr val="525C6C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Possible enhancements</a:t>
            </a:r>
            <a:endParaRPr lang="zh-CN" altLang="en-US" sz="1801" b="0" i="0" u="none" strike="noStrike" kern="1200" cap="none" spc="0" baseline="0">
              <a:solidFill>
                <a:srgbClr val="525C6C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</p:txBody>
      </p:sp>
      <p:grpSp>
        <p:nvGrpSpPr>
          <p:cNvPr id="270" name="组合"/>
          <p:cNvGrpSpPr>
            <a:grpSpLocks/>
          </p:cNvGrpSpPr>
          <p:nvPr/>
        </p:nvGrpSpPr>
        <p:grpSpPr>
          <a:xfrm>
            <a:off x="816454" y="3287267"/>
            <a:ext cx="2965513" cy="1386935"/>
            <a:chOff x="816454" y="3287267"/>
            <a:chExt cx="2965513" cy="1386935"/>
          </a:xfrm>
        </p:grpSpPr>
        <p:sp>
          <p:nvSpPr>
            <p:cNvPr id="269" name="曲线"/>
            <p:cNvSpPr>
              <a:spLocks/>
            </p:cNvSpPr>
            <p:nvPr/>
          </p:nvSpPr>
          <p:spPr>
            <a:xfrm rot="0">
              <a:off x="816454" y="3287267"/>
              <a:ext cx="2965513" cy="1386935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600"/>
                  </a:moveTo>
                  <a:cubicBezTo>
                    <a:pt x="0" y="1612"/>
                    <a:pt x="754" y="0"/>
                    <a:pt x="1683" y="0"/>
                  </a:cubicBezTo>
                  <a:lnTo>
                    <a:pt x="19916" y="0"/>
                  </a:lnTo>
                  <a:cubicBezTo>
                    <a:pt x="20845" y="0"/>
                    <a:pt x="21600" y="1612"/>
                    <a:pt x="21600" y="3600"/>
                  </a:cubicBezTo>
                  <a:lnTo>
                    <a:pt x="21600" y="17999"/>
                  </a:lnTo>
                  <a:cubicBezTo>
                    <a:pt x="21600" y="19987"/>
                    <a:pt x="20845" y="21600"/>
                    <a:pt x="19916" y="21600"/>
                  </a:cubicBezTo>
                  <a:lnTo>
                    <a:pt x="1683" y="21600"/>
                  </a:lnTo>
                  <a:cubicBezTo>
                    <a:pt x="754" y="21600"/>
                    <a:pt x="0" y="19989"/>
                    <a:pt x="0" y="17999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271" name="矩形"/>
          <p:cNvSpPr>
            <a:spLocks/>
          </p:cNvSpPr>
          <p:nvPr/>
        </p:nvSpPr>
        <p:spPr>
          <a:xfrm rot="0">
            <a:off x="1024861" y="3402320"/>
            <a:ext cx="2548738" cy="110923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10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VOICE</a:t>
            </a:r>
            <a:endParaRPr lang="en-US" altLang="zh-CN" sz="210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  <a:p>
            <a:pPr marL="0" indent="0" algn="ctr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10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INPUT</a:t>
            </a:r>
            <a:endParaRPr lang="zh-CN" altLang="en-US" sz="210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grpSp>
        <p:nvGrpSpPr>
          <p:cNvPr id="273" name="组合"/>
          <p:cNvGrpSpPr>
            <a:grpSpLocks/>
          </p:cNvGrpSpPr>
          <p:nvPr/>
        </p:nvGrpSpPr>
        <p:grpSpPr>
          <a:xfrm>
            <a:off x="4385405" y="3287267"/>
            <a:ext cx="2965514" cy="1386935"/>
            <a:chOff x="4385405" y="3287267"/>
            <a:chExt cx="2965514" cy="1386935"/>
          </a:xfrm>
        </p:grpSpPr>
        <p:sp>
          <p:nvSpPr>
            <p:cNvPr id="272" name="曲线"/>
            <p:cNvSpPr>
              <a:spLocks/>
            </p:cNvSpPr>
            <p:nvPr/>
          </p:nvSpPr>
          <p:spPr>
            <a:xfrm rot="0">
              <a:off x="4385405" y="3287267"/>
              <a:ext cx="2965514" cy="1386935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600"/>
                  </a:moveTo>
                  <a:cubicBezTo>
                    <a:pt x="0" y="1612"/>
                    <a:pt x="754" y="0"/>
                    <a:pt x="1683" y="0"/>
                  </a:cubicBezTo>
                  <a:lnTo>
                    <a:pt x="19916" y="0"/>
                  </a:lnTo>
                  <a:cubicBezTo>
                    <a:pt x="20845" y="0"/>
                    <a:pt x="21600" y="1612"/>
                    <a:pt x="21600" y="3600"/>
                  </a:cubicBezTo>
                  <a:lnTo>
                    <a:pt x="21600" y="17999"/>
                  </a:lnTo>
                  <a:cubicBezTo>
                    <a:pt x="21600" y="19987"/>
                    <a:pt x="20845" y="21600"/>
                    <a:pt x="19916" y="21600"/>
                  </a:cubicBezTo>
                  <a:lnTo>
                    <a:pt x="1683" y="21600"/>
                  </a:lnTo>
                  <a:cubicBezTo>
                    <a:pt x="754" y="21600"/>
                    <a:pt x="0" y="19989"/>
                    <a:pt x="0" y="17999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274" name="矩形"/>
          <p:cNvSpPr>
            <a:spLocks/>
          </p:cNvSpPr>
          <p:nvPr/>
        </p:nvSpPr>
        <p:spPr>
          <a:xfrm rot="0">
            <a:off x="4593803" y="3402320"/>
            <a:ext cx="2548738" cy="110923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10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MULTI-</a:t>
            </a:r>
            <a:endParaRPr lang="en-US" altLang="zh-CN" sz="210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  <a:p>
            <a:pPr marL="0" indent="0" algn="ctr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10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LANGUAGE</a:t>
            </a:r>
            <a:endParaRPr lang="zh-CN" altLang="en-US" sz="210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grpSp>
        <p:nvGrpSpPr>
          <p:cNvPr id="276" name="组合"/>
          <p:cNvGrpSpPr>
            <a:grpSpLocks/>
          </p:cNvGrpSpPr>
          <p:nvPr/>
        </p:nvGrpSpPr>
        <p:grpSpPr>
          <a:xfrm>
            <a:off x="7954346" y="3287267"/>
            <a:ext cx="2965514" cy="1386935"/>
            <a:chOff x="7954346" y="3287267"/>
            <a:chExt cx="2965514" cy="1386935"/>
          </a:xfrm>
        </p:grpSpPr>
        <p:sp>
          <p:nvSpPr>
            <p:cNvPr id="275" name="曲线"/>
            <p:cNvSpPr>
              <a:spLocks/>
            </p:cNvSpPr>
            <p:nvPr/>
          </p:nvSpPr>
          <p:spPr>
            <a:xfrm rot="0">
              <a:off x="7954346" y="3287267"/>
              <a:ext cx="2965514" cy="1386935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600"/>
                  </a:moveTo>
                  <a:cubicBezTo>
                    <a:pt x="0" y="1612"/>
                    <a:pt x="754" y="0"/>
                    <a:pt x="1683" y="0"/>
                  </a:cubicBezTo>
                  <a:lnTo>
                    <a:pt x="19916" y="0"/>
                  </a:lnTo>
                  <a:cubicBezTo>
                    <a:pt x="20845" y="0"/>
                    <a:pt x="21600" y="1612"/>
                    <a:pt x="21600" y="3600"/>
                  </a:cubicBezTo>
                  <a:lnTo>
                    <a:pt x="21600" y="17999"/>
                  </a:lnTo>
                  <a:cubicBezTo>
                    <a:pt x="21600" y="19987"/>
                    <a:pt x="20845" y="21600"/>
                    <a:pt x="19916" y="21600"/>
                  </a:cubicBezTo>
                  <a:lnTo>
                    <a:pt x="1683" y="21600"/>
                  </a:lnTo>
                  <a:cubicBezTo>
                    <a:pt x="754" y="21600"/>
                    <a:pt x="0" y="19989"/>
                    <a:pt x="0" y="17999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277" name="矩形"/>
          <p:cNvSpPr>
            <a:spLocks/>
          </p:cNvSpPr>
          <p:nvPr/>
        </p:nvSpPr>
        <p:spPr>
          <a:xfrm rot="0">
            <a:off x="8162754" y="3402320"/>
            <a:ext cx="2548738" cy="110923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10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E-SIGNATURE</a:t>
            </a:r>
            <a:endParaRPr lang="zh-CN" altLang="en-US" sz="210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grpSp>
        <p:nvGrpSpPr>
          <p:cNvPr id="279" name="组合"/>
          <p:cNvGrpSpPr>
            <a:grpSpLocks/>
          </p:cNvGrpSpPr>
          <p:nvPr/>
        </p:nvGrpSpPr>
        <p:grpSpPr>
          <a:xfrm>
            <a:off x="11523297" y="3287267"/>
            <a:ext cx="2965513" cy="1386935"/>
            <a:chOff x="11523297" y="3287267"/>
            <a:chExt cx="2965513" cy="1386935"/>
          </a:xfrm>
        </p:grpSpPr>
        <p:sp>
          <p:nvSpPr>
            <p:cNvPr id="278" name="曲线"/>
            <p:cNvSpPr>
              <a:spLocks/>
            </p:cNvSpPr>
            <p:nvPr/>
          </p:nvSpPr>
          <p:spPr>
            <a:xfrm rot="0">
              <a:off x="11523297" y="3287267"/>
              <a:ext cx="2965513" cy="1386935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600"/>
                  </a:moveTo>
                  <a:cubicBezTo>
                    <a:pt x="0" y="1612"/>
                    <a:pt x="754" y="0"/>
                    <a:pt x="1683" y="0"/>
                  </a:cubicBezTo>
                  <a:lnTo>
                    <a:pt x="19916" y="0"/>
                  </a:lnTo>
                  <a:cubicBezTo>
                    <a:pt x="20845" y="0"/>
                    <a:pt x="21600" y="1612"/>
                    <a:pt x="21600" y="3600"/>
                  </a:cubicBezTo>
                  <a:lnTo>
                    <a:pt x="21600" y="17999"/>
                  </a:lnTo>
                  <a:cubicBezTo>
                    <a:pt x="21600" y="19987"/>
                    <a:pt x="20845" y="21600"/>
                    <a:pt x="19916" y="21600"/>
                  </a:cubicBezTo>
                  <a:lnTo>
                    <a:pt x="1683" y="21600"/>
                  </a:lnTo>
                  <a:cubicBezTo>
                    <a:pt x="754" y="21600"/>
                    <a:pt x="0" y="19989"/>
                    <a:pt x="0" y="17999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280" name="矩形"/>
          <p:cNvSpPr>
            <a:spLocks/>
          </p:cNvSpPr>
          <p:nvPr/>
        </p:nvSpPr>
        <p:spPr>
          <a:xfrm rot="0">
            <a:off x="11731704" y="3402320"/>
            <a:ext cx="2548738" cy="110923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10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MOBILE</a:t>
            </a:r>
            <a:endParaRPr lang="en-US" altLang="zh-CN" sz="210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  <a:p>
            <a:pPr marL="0" indent="0" algn="ctr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10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APP</a:t>
            </a:r>
            <a:endParaRPr lang="zh-CN" altLang="en-US" sz="210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grpSp>
        <p:nvGrpSpPr>
          <p:cNvPr id="282" name="组合"/>
          <p:cNvGrpSpPr>
            <a:grpSpLocks/>
          </p:cNvGrpSpPr>
          <p:nvPr/>
        </p:nvGrpSpPr>
        <p:grpSpPr>
          <a:xfrm>
            <a:off x="15092248" y="3287267"/>
            <a:ext cx="2347817" cy="1386935"/>
            <a:chOff x="15092248" y="3287267"/>
            <a:chExt cx="2347817" cy="1386935"/>
          </a:xfrm>
        </p:grpSpPr>
        <p:sp>
          <p:nvSpPr>
            <p:cNvPr id="281" name="曲线"/>
            <p:cNvSpPr>
              <a:spLocks/>
            </p:cNvSpPr>
            <p:nvPr/>
          </p:nvSpPr>
          <p:spPr>
            <a:xfrm rot="0">
              <a:off x="15092248" y="3287267"/>
              <a:ext cx="2347817" cy="1386935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600"/>
                  </a:moveTo>
                  <a:cubicBezTo>
                    <a:pt x="0" y="1612"/>
                    <a:pt x="952" y="0"/>
                    <a:pt x="2126" y="0"/>
                  </a:cubicBezTo>
                  <a:lnTo>
                    <a:pt x="19473" y="0"/>
                  </a:lnTo>
                  <a:cubicBezTo>
                    <a:pt x="20647" y="0"/>
                    <a:pt x="21600" y="1612"/>
                    <a:pt x="21600" y="3600"/>
                  </a:cubicBezTo>
                  <a:lnTo>
                    <a:pt x="21600" y="17999"/>
                  </a:lnTo>
                  <a:cubicBezTo>
                    <a:pt x="21600" y="19987"/>
                    <a:pt x="20647" y="21600"/>
                    <a:pt x="19473" y="21600"/>
                  </a:cubicBezTo>
                  <a:lnTo>
                    <a:pt x="2126" y="21600"/>
                  </a:lnTo>
                  <a:cubicBezTo>
                    <a:pt x="952" y="21600"/>
                    <a:pt x="0" y="19989"/>
                    <a:pt x="0" y="17999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283" name="矩形"/>
          <p:cNvSpPr>
            <a:spLocks/>
          </p:cNvSpPr>
          <p:nvPr/>
        </p:nvSpPr>
        <p:spPr>
          <a:xfrm rot="0">
            <a:off x="15300646" y="3402320"/>
            <a:ext cx="1931031" cy="110923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23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95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SMART</a:t>
            </a:r>
            <a:endParaRPr lang="en-US" altLang="zh-CN" sz="195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  <a:p>
            <a:pPr marL="0" indent="0" algn="ctr">
              <a:lnSpc>
                <a:spcPts val="23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95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CHECK</a:t>
            </a:r>
            <a:endParaRPr lang="zh-CN" altLang="en-US" sz="195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284" name="直线"/>
          <p:cNvSpPr>
            <a:spLocks/>
          </p:cNvSpPr>
          <p:nvPr/>
        </p:nvSpPr>
        <p:spPr>
          <a:xfrm rot="199620">
            <a:off x="3755231" y="3971230"/>
            <a:ext cx="656938" cy="0"/>
          </a:xfrm>
          <a:prstGeom prst="line"/>
          <a:noFill/>
          <a:ln w="19050" cmpd="sng" cap="rnd">
            <a:solidFill>
              <a:srgbClr val="366FC4"/>
            </a:solidFill>
            <a:prstDash val="solid"/>
            <a:round/>
          </a:ln>
        </p:spPr>
      </p:sp>
      <p:sp>
        <p:nvSpPr>
          <p:cNvPr id="285" name="直线"/>
          <p:cNvSpPr>
            <a:spLocks/>
          </p:cNvSpPr>
          <p:nvPr/>
        </p:nvSpPr>
        <p:spPr>
          <a:xfrm rot="199620">
            <a:off x="7324182" y="3971230"/>
            <a:ext cx="656938" cy="0"/>
          </a:xfrm>
          <a:prstGeom prst="line"/>
          <a:noFill/>
          <a:ln w="19050" cmpd="sng" cap="rnd">
            <a:solidFill>
              <a:srgbClr val="366FC4"/>
            </a:solidFill>
            <a:prstDash val="solid"/>
            <a:round/>
          </a:ln>
        </p:spPr>
      </p:sp>
      <p:sp>
        <p:nvSpPr>
          <p:cNvPr id="286" name="直线"/>
          <p:cNvSpPr>
            <a:spLocks/>
          </p:cNvSpPr>
          <p:nvPr/>
        </p:nvSpPr>
        <p:spPr>
          <a:xfrm rot="199620">
            <a:off x="10893123" y="3971230"/>
            <a:ext cx="656939" cy="0"/>
          </a:xfrm>
          <a:prstGeom prst="line"/>
          <a:noFill/>
          <a:ln w="19050" cmpd="sng" cap="rnd">
            <a:solidFill>
              <a:srgbClr val="366FC4"/>
            </a:solidFill>
            <a:prstDash val="solid"/>
            <a:round/>
          </a:ln>
        </p:spPr>
      </p:sp>
      <p:sp>
        <p:nvSpPr>
          <p:cNvPr id="287" name="直线"/>
          <p:cNvSpPr>
            <a:spLocks/>
          </p:cNvSpPr>
          <p:nvPr/>
        </p:nvSpPr>
        <p:spPr>
          <a:xfrm rot="199620">
            <a:off x="14462073" y="3971230"/>
            <a:ext cx="656939" cy="0"/>
          </a:xfrm>
          <a:prstGeom prst="line"/>
          <a:noFill/>
          <a:ln w="19050" cmpd="sng" cap="rnd">
            <a:solidFill>
              <a:srgbClr val="366FC4"/>
            </a:solidFill>
            <a:prstDash val="solid"/>
            <a:round/>
          </a:ln>
        </p:spPr>
      </p:sp>
      <p:grpSp>
        <p:nvGrpSpPr>
          <p:cNvPr id="289" name="组合"/>
          <p:cNvGrpSpPr>
            <a:grpSpLocks/>
          </p:cNvGrpSpPr>
          <p:nvPr/>
        </p:nvGrpSpPr>
        <p:grpSpPr>
          <a:xfrm>
            <a:off x="2738199" y="6238513"/>
            <a:ext cx="13054679" cy="1730120"/>
            <a:chOff x="2738199" y="6238513"/>
            <a:chExt cx="13054679" cy="1730120"/>
          </a:xfrm>
        </p:grpSpPr>
        <p:sp>
          <p:nvSpPr>
            <p:cNvPr id="288" name="曲线"/>
            <p:cNvSpPr>
              <a:spLocks/>
            </p:cNvSpPr>
            <p:nvPr/>
          </p:nvSpPr>
          <p:spPr>
            <a:xfrm rot="0">
              <a:off x="2738199" y="6238513"/>
              <a:ext cx="13054679" cy="1730120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599"/>
                  </a:moveTo>
                  <a:cubicBezTo>
                    <a:pt x="0" y="1611"/>
                    <a:pt x="213" y="0"/>
                    <a:pt x="477" y="0"/>
                  </a:cubicBezTo>
                  <a:lnTo>
                    <a:pt x="21122" y="0"/>
                  </a:lnTo>
                  <a:cubicBezTo>
                    <a:pt x="21386" y="0"/>
                    <a:pt x="21600" y="1611"/>
                    <a:pt x="21600" y="3599"/>
                  </a:cubicBezTo>
                  <a:lnTo>
                    <a:pt x="21600" y="18000"/>
                  </a:lnTo>
                  <a:cubicBezTo>
                    <a:pt x="21600" y="19988"/>
                    <a:pt x="21386" y="21600"/>
                    <a:pt x="21122" y="21600"/>
                  </a:cubicBezTo>
                  <a:lnTo>
                    <a:pt x="477" y="21600"/>
                  </a:lnTo>
                  <a:cubicBezTo>
                    <a:pt x="213" y="21600"/>
                    <a:pt x="0" y="19988"/>
                    <a:pt x="0" y="18000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id="291" name="组合"/>
          <p:cNvGrpSpPr>
            <a:grpSpLocks/>
          </p:cNvGrpSpPr>
          <p:nvPr/>
        </p:nvGrpSpPr>
        <p:grpSpPr>
          <a:xfrm>
            <a:off x="2745343" y="6245657"/>
            <a:ext cx="109823" cy="1715833"/>
            <a:chOff x="2745343" y="6245657"/>
            <a:chExt cx="109823" cy="1715833"/>
          </a:xfrm>
        </p:grpSpPr>
        <p:sp>
          <p:nvSpPr>
            <p:cNvPr id="290" name="曲线"/>
            <p:cNvSpPr>
              <a:spLocks/>
            </p:cNvSpPr>
            <p:nvPr/>
          </p:nvSpPr>
          <p:spPr>
            <a:xfrm rot="0">
              <a:off x="2745343" y="6245657"/>
              <a:ext cx="109823" cy="1715833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366FC4"/>
            </a:solidFill>
            <a:ln cmpd="sng" cap="flat">
              <a:noFill/>
              <a:prstDash val="solid"/>
              <a:miter/>
            </a:ln>
          </p:spPr>
        </p:sp>
      </p:grpSp>
      <p:sp>
        <p:nvSpPr>
          <p:cNvPr id="292" name="矩形"/>
          <p:cNvSpPr>
            <a:spLocks/>
          </p:cNvSpPr>
          <p:nvPr/>
        </p:nvSpPr>
        <p:spPr>
          <a:xfrm rot="0">
            <a:off x="3179950" y="6453854"/>
            <a:ext cx="12239806" cy="51477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7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5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Future vision</a:t>
            </a:r>
            <a:endParaRPr lang="zh-CN" altLang="en-US" sz="225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293" name="矩形"/>
          <p:cNvSpPr>
            <a:spLocks/>
          </p:cNvSpPr>
          <p:nvPr/>
        </p:nvSpPr>
        <p:spPr>
          <a:xfrm rot="0">
            <a:off x="3179950" y="7104336"/>
            <a:ext cx="12239806" cy="63299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26" b="0" i="0" u="none" strike="noStrike" kern="1200" cap="none" spc="0" baseline="0">
                <a:solidFill>
                  <a:srgbClr val="525C6C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Expand supported languages, document types, integrations and validation tools while maintaining privacy and human oversight.</a:t>
            </a:r>
            <a:endParaRPr lang="zh-CN" altLang="en-US" sz="1726" b="0" i="0" u="none" strike="noStrike" kern="1200" cap="none" spc="0" baseline="0">
              <a:solidFill>
                <a:srgbClr val="525C6C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</p:txBody>
      </p:sp>
      <p:sp>
        <p:nvSpPr>
          <p:cNvPr id="294" name="矩形"/>
          <p:cNvSpPr>
            <a:spLocks/>
          </p:cNvSpPr>
          <p:nvPr/>
        </p:nvSpPr>
        <p:spPr>
          <a:xfrm rot="0">
            <a:off x="16426244" y="9694488"/>
            <a:ext cx="640727" cy="21167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r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51" b="0" i="0" u="none" strike="noStrike" kern="1200" cap="none" spc="0" baseline="0">
                <a:solidFill>
                  <a:srgbClr val="525C6C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9</a:t>
            </a:r>
            <a:endParaRPr lang="zh-CN" altLang="en-US" sz="1351" b="0" i="0" u="none" strike="noStrike" kern="1200" cap="none" spc="0" baseline="0">
              <a:solidFill>
                <a:srgbClr val="525C6C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141252"/>
      </p:ext>
    </p:extLst>
  </p:cSld>
  <p:clrMapOvr>
    <a:masterClrMapping/>
  </p:clrMapOvr>
</p:sld>
</file>

<file path=ppt/slides/slide1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6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矩形"/>
          <p:cNvSpPr>
            <a:spLocks/>
          </p:cNvSpPr>
          <p:nvPr/>
        </p:nvSpPr>
        <p:spPr>
          <a:xfrm rot="0">
            <a:off x="846410" y="344348"/>
            <a:ext cx="12033904" cy="74925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50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203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9. Conclusion</a:t>
            </a:r>
            <a:endParaRPr lang="zh-CN" altLang="en-US" sz="4203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296" name="矩形"/>
          <p:cNvSpPr>
            <a:spLocks/>
          </p:cNvSpPr>
          <p:nvPr/>
        </p:nvSpPr>
        <p:spPr>
          <a:xfrm rot="0">
            <a:off x="887587" y="1188120"/>
            <a:ext cx="13269306" cy="49572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1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1" b="0" i="0" u="none" strike="noStrike" kern="1200" cap="none" spc="0" baseline="0">
                <a:solidFill>
                  <a:srgbClr val="525C6C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Summary</a:t>
            </a:r>
            <a:endParaRPr lang="zh-CN" altLang="en-US" sz="1801" b="0" i="0" u="none" strike="noStrike" kern="1200" cap="none" spc="0" baseline="0">
              <a:solidFill>
                <a:srgbClr val="525C6C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</p:txBody>
      </p:sp>
      <p:grpSp>
        <p:nvGrpSpPr>
          <p:cNvPr id="298" name="组合"/>
          <p:cNvGrpSpPr>
            <a:grpSpLocks/>
          </p:cNvGrpSpPr>
          <p:nvPr/>
        </p:nvGrpSpPr>
        <p:grpSpPr>
          <a:xfrm>
            <a:off x="1090984" y="2120494"/>
            <a:ext cx="7701344" cy="1867471"/>
            <a:chOff x="1090984" y="2120494"/>
            <a:chExt cx="7701344" cy="1867471"/>
          </a:xfrm>
        </p:grpSpPr>
        <p:sp>
          <p:nvSpPr>
            <p:cNvPr id="297" name="曲线"/>
            <p:cNvSpPr>
              <a:spLocks/>
            </p:cNvSpPr>
            <p:nvPr/>
          </p:nvSpPr>
          <p:spPr>
            <a:xfrm rot="0">
              <a:off x="1090984" y="2120494"/>
              <a:ext cx="7701344" cy="1867471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600"/>
                  </a:moveTo>
                  <a:cubicBezTo>
                    <a:pt x="0" y="1611"/>
                    <a:pt x="390" y="0"/>
                    <a:pt x="873" y="0"/>
                  </a:cubicBezTo>
                  <a:lnTo>
                    <a:pt x="20726" y="0"/>
                  </a:lnTo>
                  <a:cubicBezTo>
                    <a:pt x="21209" y="0"/>
                    <a:pt x="21600" y="1611"/>
                    <a:pt x="21600" y="3600"/>
                  </a:cubicBezTo>
                  <a:lnTo>
                    <a:pt x="21600" y="17999"/>
                  </a:lnTo>
                  <a:cubicBezTo>
                    <a:pt x="21600" y="19988"/>
                    <a:pt x="21209" y="21599"/>
                    <a:pt x="20726" y="21599"/>
                  </a:cubicBezTo>
                  <a:lnTo>
                    <a:pt x="873" y="21599"/>
                  </a:lnTo>
                  <a:cubicBezTo>
                    <a:pt x="390" y="21598"/>
                    <a:pt x="0" y="19987"/>
                    <a:pt x="0" y="17999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id="300" name="组合"/>
          <p:cNvGrpSpPr>
            <a:grpSpLocks/>
          </p:cNvGrpSpPr>
          <p:nvPr/>
        </p:nvGrpSpPr>
        <p:grpSpPr>
          <a:xfrm>
            <a:off x="1098137" y="2127647"/>
            <a:ext cx="109823" cy="1853089"/>
            <a:chOff x="1098137" y="2127647"/>
            <a:chExt cx="109823" cy="1853089"/>
          </a:xfrm>
        </p:grpSpPr>
        <p:sp>
          <p:nvSpPr>
            <p:cNvPr id="299" name="曲线"/>
            <p:cNvSpPr>
              <a:spLocks/>
            </p:cNvSpPr>
            <p:nvPr/>
          </p:nvSpPr>
          <p:spPr>
            <a:xfrm rot="0">
              <a:off x="1098137" y="2127647"/>
              <a:ext cx="109823" cy="185308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366FC4"/>
            </a:solidFill>
            <a:ln cmpd="sng" cap="flat">
              <a:noFill/>
              <a:prstDash val="solid"/>
              <a:miter/>
            </a:ln>
          </p:spPr>
        </p:sp>
      </p:grpSp>
      <p:sp>
        <p:nvSpPr>
          <p:cNvPr id="301" name="矩形"/>
          <p:cNvSpPr>
            <a:spLocks/>
          </p:cNvSpPr>
          <p:nvPr/>
        </p:nvSpPr>
        <p:spPr>
          <a:xfrm rot="0">
            <a:off x="1532744" y="2335844"/>
            <a:ext cx="6886384" cy="51477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7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5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What LegalEase does</a:t>
            </a:r>
            <a:endParaRPr lang="zh-CN" altLang="en-US" sz="225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302" name="矩形"/>
          <p:cNvSpPr>
            <a:spLocks/>
          </p:cNvSpPr>
          <p:nvPr/>
        </p:nvSpPr>
        <p:spPr>
          <a:xfrm rot="0">
            <a:off x="1532744" y="2986315"/>
            <a:ext cx="6886384" cy="77026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26" b="0" i="0" u="none" strike="noStrike" kern="1200" cap="none" spc="0" baseline="0">
                <a:solidFill>
                  <a:srgbClr val="525C6C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Uses AI to help transform user-provided information into structured legal document drafts.</a:t>
            </a:r>
            <a:endParaRPr lang="zh-CN" altLang="en-US" sz="1726" b="0" i="0" u="none" strike="noStrike" kern="1200" cap="none" spc="0" baseline="0">
              <a:solidFill>
                <a:srgbClr val="525C6C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</p:txBody>
      </p:sp>
      <p:grpSp>
        <p:nvGrpSpPr>
          <p:cNvPr id="304" name="组合"/>
          <p:cNvGrpSpPr>
            <a:grpSpLocks/>
          </p:cNvGrpSpPr>
          <p:nvPr/>
        </p:nvGrpSpPr>
        <p:grpSpPr>
          <a:xfrm>
            <a:off x="1090984" y="4454033"/>
            <a:ext cx="7701344" cy="1867471"/>
            <a:chOff x="1090984" y="4454033"/>
            <a:chExt cx="7701344" cy="1867471"/>
          </a:xfrm>
        </p:grpSpPr>
        <p:sp>
          <p:nvSpPr>
            <p:cNvPr id="303" name="曲线"/>
            <p:cNvSpPr>
              <a:spLocks/>
            </p:cNvSpPr>
            <p:nvPr/>
          </p:nvSpPr>
          <p:spPr>
            <a:xfrm rot="0">
              <a:off x="1090984" y="4454033"/>
              <a:ext cx="7701344" cy="1867471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600"/>
                  </a:moveTo>
                  <a:cubicBezTo>
                    <a:pt x="0" y="1611"/>
                    <a:pt x="390" y="0"/>
                    <a:pt x="873" y="0"/>
                  </a:cubicBezTo>
                  <a:lnTo>
                    <a:pt x="20726" y="0"/>
                  </a:lnTo>
                  <a:cubicBezTo>
                    <a:pt x="21209" y="0"/>
                    <a:pt x="21600" y="1611"/>
                    <a:pt x="21600" y="3600"/>
                  </a:cubicBezTo>
                  <a:lnTo>
                    <a:pt x="21600" y="17999"/>
                  </a:lnTo>
                  <a:cubicBezTo>
                    <a:pt x="21600" y="19988"/>
                    <a:pt x="21209" y="21599"/>
                    <a:pt x="20726" y="21599"/>
                  </a:cubicBezTo>
                  <a:lnTo>
                    <a:pt x="873" y="21599"/>
                  </a:lnTo>
                  <a:cubicBezTo>
                    <a:pt x="390" y="21598"/>
                    <a:pt x="0" y="19987"/>
                    <a:pt x="0" y="17999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id="306" name="组合"/>
          <p:cNvGrpSpPr>
            <a:grpSpLocks/>
          </p:cNvGrpSpPr>
          <p:nvPr/>
        </p:nvGrpSpPr>
        <p:grpSpPr>
          <a:xfrm>
            <a:off x="1098137" y="4461186"/>
            <a:ext cx="109823" cy="1853089"/>
            <a:chOff x="1098137" y="4461186"/>
            <a:chExt cx="109823" cy="1853089"/>
          </a:xfrm>
        </p:grpSpPr>
        <p:sp>
          <p:nvSpPr>
            <p:cNvPr id="305" name="曲线"/>
            <p:cNvSpPr>
              <a:spLocks/>
            </p:cNvSpPr>
            <p:nvPr/>
          </p:nvSpPr>
          <p:spPr>
            <a:xfrm rot="0">
              <a:off x="1098137" y="4461186"/>
              <a:ext cx="109823" cy="185308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366FC4"/>
            </a:solidFill>
            <a:ln cmpd="sng" cap="flat">
              <a:noFill/>
              <a:prstDash val="solid"/>
              <a:miter/>
            </a:ln>
          </p:spPr>
        </p:sp>
      </p:grpSp>
      <p:sp>
        <p:nvSpPr>
          <p:cNvPr id="307" name="矩形"/>
          <p:cNvSpPr>
            <a:spLocks/>
          </p:cNvSpPr>
          <p:nvPr/>
        </p:nvSpPr>
        <p:spPr>
          <a:xfrm rot="0">
            <a:off x="1532744" y="4669384"/>
            <a:ext cx="6886384" cy="51477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7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5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Why it matters</a:t>
            </a:r>
            <a:endParaRPr lang="zh-CN" altLang="en-US" sz="225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308" name="矩形"/>
          <p:cNvSpPr>
            <a:spLocks/>
          </p:cNvSpPr>
          <p:nvPr/>
        </p:nvSpPr>
        <p:spPr>
          <a:xfrm rot="0">
            <a:off x="1532744" y="5319865"/>
            <a:ext cx="6886384" cy="77026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26" b="0" i="0" u="none" strike="noStrike" kern="1200" cap="none" spc="0" baseline="0">
                <a:solidFill>
                  <a:srgbClr val="525C6C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Can reduce repetitive work and make basic drafting more convenient.</a:t>
            </a:r>
            <a:endParaRPr lang="zh-CN" altLang="en-US" sz="1726" b="0" i="0" u="none" strike="noStrike" kern="1200" cap="none" spc="0" baseline="0">
              <a:solidFill>
                <a:srgbClr val="525C6C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</p:txBody>
      </p:sp>
      <p:grpSp>
        <p:nvGrpSpPr>
          <p:cNvPr id="310" name="组合"/>
          <p:cNvGrpSpPr>
            <a:grpSpLocks/>
          </p:cNvGrpSpPr>
          <p:nvPr/>
        </p:nvGrpSpPr>
        <p:grpSpPr>
          <a:xfrm>
            <a:off x="9601562" y="2120494"/>
            <a:ext cx="7701344" cy="1867471"/>
            <a:chOff x="9601562" y="2120494"/>
            <a:chExt cx="7701344" cy="1867471"/>
          </a:xfrm>
        </p:grpSpPr>
        <p:sp>
          <p:nvSpPr>
            <p:cNvPr id="309" name="曲线"/>
            <p:cNvSpPr>
              <a:spLocks/>
            </p:cNvSpPr>
            <p:nvPr/>
          </p:nvSpPr>
          <p:spPr>
            <a:xfrm rot="0">
              <a:off x="9601562" y="2120494"/>
              <a:ext cx="7701344" cy="1867471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600"/>
                  </a:moveTo>
                  <a:cubicBezTo>
                    <a:pt x="0" y="1611"/>
                    <a:pt x="390" y="0"/>
                    <a:pt x="873" y="0"/>
                  </a:cubicBezTo>
                  <a:lnTo>
                    <a:pt x="20726" y="0"/>
                  </a:lnTo>
                  <a:cubicBezTo>
                    <a:pt x="21209" y="0"/>
                    <a:pt x="21600" y="1611"/>
                    <a:pt x="21600" y="3600"/>
                  </a:cubicBezTo>
                  <a:lnTo>
                    <a:pt x="21600" y="17999"/>
                  </a:lnTo>
                  <a:cubicBezTo>
                    <a:pt x="21600" y="19988"/>
                    <a:pt x="21209" y="21599"/>
                    <a:pt x="20726" y="21599"/>
                  </a:cubicBezTo>
                  <a:lnTo>
                    <a:pt x="873" y="21599"/>
                  </a:lnTo>
                  <a:cubicBezTo>
                    <a:pt x="390" y="21598"/>
                    <a:pt x="0" y="19987"/>
                    <a:pt x="0" y="17999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id="312" name="组合"/>
          <p:cNvGrpSpPr>
            <a:grpSpLocks/>
          </p:cNvGrpSpPr>
          <p:nvPr/>
        </p:nvGrpSpPr>
        <p:grpSpPr>
          <a:xfrm>
            <a:off x="9608705" y="2127647"/>
            <a:ext cx="109823" cy="1853089"/>
            <a:chOff x="9608705" y="2127647"/>
            <a:chExt cx="109823" cy="1853089"/>
          </a:xfrm>
        </p:grpSpPr>
        <p:sp>
          <p:nvSpPr>
            <p:cNvPr id="311" name="曲线"/>
            <p:cNvSpPr>
              <a:spLocks/>
            </p:cNvSpPr>
            <p:nvPr/>
          </p:nvSpPr>
          <p:spPr>
            <a:xfrm rot="0">
              <a:off x="9608705" y="2127647"/>
              <a:ext cx="109823" cy="185308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366FC4"/>
            </a:solidFill>
            <a:ln cmpd="sng" cap="flat">
              <a:noFill/>
              <a:prstDash val="solid"/>
              <a:miter/>
            </a:ln>
          </p:spPr>
        </p:sp>
      </p:grpSp>
      <p:sp>
        <p:nvSpPr>
          <p:cNvPr id="313" name="矩形"/>
          <p:cNvSpPr>
            <a:spLocks/>
          </p:cNvSpPr>
          <p:nvPr/>
        </p:nvSpPr>
        <p:spPr>
          <a:xfrm rot="0">
            <a:off x="10043312" y="2335844"/>
            <a:ext cx="6886384" cy="51477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7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5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Human role</a:t>
            </a:r>
            <a:endParaRPr lang="zh-CN" altLang="en-US" sz="225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314" name="矩形"/>
          <p:cNvSpPr>
            <a:spLocks/>
          </p:cNvSpPr>
          <p:nvPr/>
        </p:nvSpPr>
        <p:spPr>
          <a:xfrm rot="0">
            <a:off x="10043312" y="2986315"/>
            <a:ext cx="6886384" cy="77026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26" b="0" i="0" u="none" strike="noStrike" kern="1200" cap="none" spc="0" baseline="0">
                <a:solidFill>
                  <a:srgbClr val="525C6C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Users should review the output for accuracy and context.</a:t>
            </a:r>
            <a:endParaRPr lang="zh-CN" altLang="en-US" sz="1726" b="0" i="0" u="none" strike="noStrike" kern="1200" cap="none" spc="0" baseline="0">
              <a:solidFill>
                <a:srgbClr val="525C6C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</p:txBody>
      </p:sp>
      <p:grpSp>
        <p:nvGrpSpPr>
          <p:cNvPr id="316" name="组合"/>
          <p:cNvGrpSpPr>
            <a:grpSpLocks/>
          </p:cNvGrpSpPr>
          <p:nvPr/>
        </p:nvGrpSpPr>
        <p:grpSpPr>
          <a:xfrm>
            <a:off x="9601562" y="4454033"/>
            <a:ext cx="7701344" cy="1867471"/>
            <a:chOff x="9601562" y="4454033"/>
            <a:chExt cx="7701344" cy="1867471"/>
          </a:xfrm>
        </p:grpSpPr>
        <p:sp>
          <p:nvSpPr>
            <p:cNvPr id="315" name="曲线"/>
            <p:cNvSpPr>
              <a:spLocks/>
            </p:cNvSpPr>
            <p:nvPr/>
          </p:nvSpPr>
          <p:spPr>
            <a:xfrm rot="0">
              <a:off x="9601562" y="4454033"/>
              <a:ext cx="7701344" cy="1867471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600"/>
                  </a:moveTo>
                  <a:cubicBezTo>
                    <a:pt x="0" y="1611"/>
                    <a:pt x="390" y="0"/>
                    <a:pt x="873" y="0"/>
                  </a:cubicBezTo>
                  <a:lnTo>
                    <a:pt x="20726" y="0"/>
                  </a:lnTo>
                  <a:cubicBezTo>
                    <a:pt x="21209" y="0"/>
                    <a:pt x="21600" y="1611"/>
                    <a:pt x="21600" y="3600"/>
                  </a:cubicBezTo>
                  <a:lnTo>
                    <a:pt x="21600" y="17999"/>
                  </a:lnTo>
                  <a:cubicBezTo>
                    <a:pt x="21600" y="19988"/>
                    <a:pt x="21209" y="21599"/>
                    <a:pt x="20726" y="21599"/>
                  </a:cubicBezTo>
                  <a:lnTo>
                    <a:pt x="873" y="21599"/>
                  </a:lnTo>
                  <a:cubicBezTo>
                    <a:pt x="390" y="21598"/>
                    <a:pt x="0" y="19987"/>
                    <a:pt x="0" y="17999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id="318" name="组合"/>
          <p:cNvGrpSpPr>
            <a:grpSpLocks/>
          </p:cNvGrpSpPr>
          <p:nvPr/>
        </p:nvGrpSpPr>
        <p:grpSpPr>
          <a:xfrm>
            <a:off x="9608705" y="4461186"/>
            <a:ext cx="109823" cy="1853089"/>
            <a:chOff x="9608705" y="4461186"/>
            <a:chExt cx="109823" cy="1853089"/>
          </a:xfrm>
        </p:grpSpPr>
        <p:sp>
          <p:nvSpPr>
            <p:cNvPr id="317" name="曲线"/>
            <p:cNvSpPr>
              <a:spLocks/>
            </p:cNvSpPr>
            <p:nvPr/>
          </p:nvSpPr>
          <p:spPr>
            <a:xfrm rot="0">
              <a:off x="9608705" y="4461186"/>
              <a:ext cx="109823" cy="185308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366FC4"/>
            </a:solidFill>
            <a:ln cmpd="sng" cap="flat">
              <a:noFill/>
              <a:prstDash val="solid"/>
              <a:miter/>
            </a:ln>
          </p:spPr>
        </p:sp>
      </p:grpSp>
      <p:sp>
        <p:nvSpPr>
          <p:cNvPr id="319" name="矩形"/>
          <p:cNvSpPr>
            <a:spLocks/>
          </p:cNvSpPr>
          <p:nvPr/>
        </p:nvSpPr>
        <p:spPr>
          <a:xfrm rot="0">
            <a:off x="10043312" y="4669384"/>
            <a:ext cx="6886384" cy="51477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7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5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Legal responsibility</a:t>
            </a:r>
            <a:endParaRPr lang="zh-CN" altLang="en-US" sz="225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320" name="矩形"/>
          <p:cNvSpPr>
            <a:spLocks/>
          </p:cNvSpPr>
          <p:nvPr/>
        </p:nvSpPr>
        <p:spPr>
          <a:xfrm rot="0">
            <a:off x="10043312" y="5319865"/>
            <a:ext cx="6886384" cy="77026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26" b="0" i="0" u="none" strike="noStrike" kern="1200" cap="none" spc="0" baseline="0">
                <a:solidFill>
                  <a:srgbClr val="525C6C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For important legal matters, qualified legal advice should be obtained.</a:t>
            </a:r>
            <a:endParaRPr lang="zh-CN" altLang="en-US" sz="1726" b="0" i="0" u="none" strike="noStrike" kern="1200" cap="none" spc="0" baseline="0">
              <a:solidFill>
                <a:srgbClr val="525C6C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</p:txBody>
      </p:sp>
      <p:grpSp>
        <p:nvGrpSpPr>
          <p:cNvPr id="322" name="组合"/>
          <p:cNvGrpSpPr>
            <a:grpSpLocks/>
          </p:cNvGrpSpPr>
          <p:nvPr/>
        </p:nvGrpSpPr>
        <p:grpSpPr>
          <a:xfrm>
            <a:off x="4522670" y="7473915"/>
            <a:ext cx="9211246" cy="1112519"/>
            <a:chOff x="4522670" y="7473915"/>
            <a:chExt cx="9211246" cy="1112519"/>
          </a:xfrm>
        </p:grpSpPr>
        <p:sp>
          <p:nvSpPr>
            <p:cNvPr id="321" name="曲线"/>
            <p:cNvSpPr>
              <a:spLocks/>
            </p:cNvSpPr>
            <p:nvPr/>
          </p:nvSpPr>
          <p:spPr>
            <a:xfrm rot="0">
              <a:off x="4522670" y="7473915"/>
              <a:ext cx="9211246" cy="111251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600"/>
                  </a:moveTo>
                  <a:cubicBezTo>
                    <a:pt x="0" y="1612"/>
                    <a:pt x="194" y="0"/>
                    <a:pt x="434" y="0"/>
                  </a:cubicBezTo>
                  <a:lnTo>
                    <a:pt x="21165" y="0"/>
                  </a:lnTo>
                  <a:cubicBezTo>
                    <a:pt x="21405" y="0"/>
                    <a:pt x="21600" y="1612"/>
                    <a:pt x="21600" y="3600"/>
                  </a:cubicBezTo>
                  <a:lnTo>
                    <a:pt x="21600" y="17999"/>
                  </a:lnTo>
                  <a:cubicBezTo>
                    <a:pt x="21600" y="19987"/>
                    <a:pt x="21405" y="21600"/>
                    <a:pt x="21165" y="21600"/>
                  </a:cubicBezTo>
                  <a:lnTo>
                    <a:pt x="434" y="21600"/>
                  </a:lnTo>
                  <a:cubicBezTo>
                    <a:pt x="194" y="21598"/>
                    <a:pt x="0" y="19987"/>
                    <a:pt x="0" y="17999"/>
                  </a:cubicBezTo>
                  <a:close/>
                </a:path>
              </a:pathLst>
            </a:custGeom>
            <a:solidFill>
              <a:srgbClr val="E8F6F4"/>
            </a:solidFill>
            <a:ln w="14299" cmpd="sng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323" name="矩形"/>
          <p:cNvSpPr>
            <a:spLocks/>
          </p:cNvSpPr>
          <p:nvPr/>
        </p:nvSpPr>
        <p:spPr>
          <a:xfrm rot="0">
            <a:off x="4731077" y="7579452"/>
            <a:ext cx="8794394" cy="84421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27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5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LEGALease = AI ASSISTANCE + HUMAN REVIEW</a:t>
            </a:r>
            <a:endParaRPr lang="zh-CN" altLang="en-US" sz="225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324" name="矩形"/>
          <p:cNvSpPr>
            <a:spLocks/>
          </p:cNvSpPr>
          <p:nvPr/>
        </p:nvSpPr>
        <p:spPr>
          <a:xfrm rot="0">
            <a:off x="16426244" y="9694488"/>
            <a:ext cx="640727" cy="21167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r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51" b="0" i="0" u="none" strike="noStrike" kern="1200" cap="none" spc="0" baseline="0">
                <a:solidFill>
                  <a:srgbClr val="525C6C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10</a:t>
            </a:r>
            <a:endParaRPr lang="zh-CN" altLang="en-US" sz="1351" b="0" i="0" u="none" strike="noStrike" kern="1200" cap="none" spc="0" baseline="0">
              <a:solidFill>
                <a:srgbClr val="525C6C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11827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Them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 Theme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</a:theme>
</file>

<file path=docProps/app.xml><?xml version="1.0" encoding="utf-8"?>
<Properties xmlns="http://schemas.openxmlformats.org/officeDocument/2006/extended-properties">
  <Template>Normal.eit</Template>
  <TotalTime>5</TotalTime>
  <Application>Yozo_Office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LegalEase_AI_Legal_Document_Generator_Diagram_PPT.pptx</dc:title>
  <cp:lastModifiedBy>root</cp:lastModifiedBy>
  <cp:revision>1</cp:revision>
  <dcterms:created xsi:type="dcterms:W3CDTF">2006-08-16T00:00:00Z</dcterms:created>
  <dcterms:modified xsi:type="dcterms:W3CDTF">2026-09-30T04:44:36Z</dcterms:modified>
</cp:coreProperties>
</file>